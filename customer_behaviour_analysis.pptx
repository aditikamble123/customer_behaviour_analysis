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Poppins Bold" charset="1" panose="00000800000000000000"/>
      <p:regular r:id="rId19"/>
    </p:embeddedFont>
    <p:embeddedFont>
      <p:font typeface="Poppins" charset="1" panose="00000500000000000000"/>
      <p:regular r:id="rId20"/>
    </p:embeddedFont>
    <p:embeddedFont>
      <p:font typeface="Bricolage Grotesque" charset="1" panose="020B0605040402000204"/>
      <p:regular r:id="rId21"/>
    </p:embeddedFont>
    <p:embeddedFont>
      <p:font typeface="Bricolage Grotesque Bold" charset="1" panose="020B0605040402000204"/>
      <p:regular r:id="rId22"/>
    </p:embeddedFont>
    <p:embeddedFont>
      <p:font typeface="Canva Sans Bold" charset="1" panose="020B0803030501040103"/>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9.jpeg" Type="http://schemas.openxmlformats.org/officeDocument/2006/relationships/image"/><Relationship Id="rId5"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4.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5.jpeg" Type="http://schemas.openxmlformats.org/officeDocument/2006/relationships/image"/><Relationship Id="rId5"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20.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2415882" cy="10287000"/>
            <a:chOff x="0" y="0"/>
            <a:chExt cx="636282" cy="2709333"/>
          </a:xfrm>
        </p:grpSpPr>
        <p:sp>
          <p:nvSpPr>
            <p:cNvPr name="Freeform 3" id="3"/>
            <p:cNvSpPr/>
            <p:nvPr/>
          </p:nvSpPr>
          <p:spPr>
            <a:xfrm flipH="false" flipV="false" rot="0">
              <a:off x="0" y="0"/>
              <a:ext cx="636282" cy="2709333"/>
            </a:xfrm>
            <a:custGeom>
              <a:avLst/>
              <a:gdLst/>
              <a:ahLst/>
              <a:cxnLst/>
              <a:rect r="r" b="b" t="t" l="l"/>
              <a:pathLst>
                <a:path h="2709333" w="636282">
                  <a:moveTo>
                    <a:pt x="0" y="0"/>
                  </a:moveTo>
                  <a:lnTo>
                    <a:pt x="636282" y="0"/>
                  </a:lnTo>
                  <a:lnTo>
                    <a:pt x="636282" y="2709333"/>
                  </a:lnTo>
                  <a:lnTo>
                    <a:pt x="0" y="2709333"/>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4" id="4"/>
            <p:cNvSpPr txBox="true"/>
            <p:nvPr/>
          </p:nvSpPr>
          <p:spPr>
            <a:xfrm>
              <a:off x="0" y="-38100"/>
              <a:ext cx="636282"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9838666" y="725511"/>
            <a:ext cx="9199047" cy="9998964"/>
          </a:xfrm>
          <a:custGeom>
            <a:avLst/>
            <a:gdLst/>
            <a:ahLst/>
            <a:cxnLst/>
            <a:rect r="r" b="b" t="t" l="l"/>
            <a:pathLst>
              <a:path h="9998964" w="9199047">
                <a:moveTo>
                  <a:pt x="0" y="0"/>
                </a:moveTo>
                <a:lnTo>
                  <a:pt x="9199047" y="0"/>
                </a:lnTo>
                <a:lnTo>
                  <a:pt x="9199047" y="9998964"/>
                </a:lnTo>
                <a:lnTo>
                  <a:pt x="0" y="9998964"/>
                </a:lnTo>
                <a:lnTo>
                  <a:pt x="0" y="0"/>
                </a:lnTo>
                <a:close/>
              </a:path>
            </a:pathLst>
          </a:custGeom>
          <a:blipFill>
            <a:blip r:embed="rId2"/>
            <a:stretch>
              <a:fillRect l="0" t="0" r="0" b="0"/>
            </a:stretch>
          </a:blipFill>
        </p:spPr>
      </p:sp>
      <p:sp>
        <p:nvSpPr>
          <p:cNvPr name="Freeform 6" id="6"/>
          <p:cNvSpPr/>
          <p:nvPr/>
        </p:nvSpPr>
        <p:spPr>
          <a:xfrm flipH="false" flipV="false" rot="0">
            <a:off x="839956" y="1028700"/>
            <a:ext cx="735971" cy="710546"/>
          </a:xfrm>
          <a:custGeom>
            <a:avLst/>
            <a:gdLst/>
            <a:ahLst/>
            <a:cxnLst/>
            <a:rect r="r" b="b" t="t" l="l"/>
            <a:pathLst>
              <a:path h="710546" w="735971">
                <a:moveTo>
                  <a:pt x="0" y="0"/>
                </a:moveTo>
                <a:lnTo>
                  <a:pt x="735970" y="0"/>
                </a:lnTo>
                <a:lnTo>
                  <a:pt x="735970" y="710546"/>
                </a:lnTo>
                <a:lnTo>
                  <a:pt x="0" y="7105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3320099" y="7330105"/>
            <a:ext cx="2772573" cy="1872812"/>
            <a:chOff x="0" y="0"/>
            <a:chExt cx="3696764" cy="2497082"/>
          </a:xfrm>
        </p:grpSpPr>
        <p:grpSp>
          <p:nvGrpSpPr>
            <p:cNvPr name="Group 8" id="8"/>
            <p:cNvGrpSpPr/>
            <p:nvPr/>
          </p:nvGrpSpPr>
          <p:grpSpPr>
            <a:xfrm rot="0">
              <a:off x="0" y="385418"/>
              <a:ext cx="134591" cy="13459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10" id="10"/>
              <p:cNvSpPr txBox="true"/>
              <p:nvPr/>
            </p:nvSpPr>
            <p:spPr>
              <a:xfrm>
                <a:off x="76200" y="104775"/>
                <a:ext cx="660400" cy="631825"/>
              </a:xfrm>
              <a:prstGeom prst="rect">
                <a:avLst/>
              </a:prstGeom>
            </p:spPr>
            <p:txBody>
              <a:bodyPr anchor="ctr" rtlCol="false" tIns="50800" lIns="50800" bIns="50800" rIns="50800"/>
              <a:lstStyle/>
              <a:p>
                <a:pPr algn="ctr" marL="0" indent="0" lvl="0">
                  <a:lnSpc>
                    <a:spcPts val="1308"/>
                  </a:lnSpc>
                </a:pPr>
              </a:p>
            </p:txBody>
          </p:sp>
        </p:grpSp>
        <p:sp>
          <p:nvSpPr>
            <p:cNvPr name="TextBox 11" id="11"/>
            <p:cNvSpPr txBox="true"/>
            <p:nvPr/>
          </p:nvSpPr>
          <p:spPr>
            <a:xfrm rot="0">
              <a:off x="506484" y="47625"/>
              <a:ext cx="2749098" cy="381297"/>
            </a:xfrm>
            <a:prstGeom prst="rect">
              <a:avLst/>
            </a:prstGeom>
          </p:spPr>
          <p:txBody>
            <a:bodyPr anchor="t" rtlCol="false" tIns="0" lIns="0" bIns="0" rIns="0">
              <a:spAutoFit/>
            </a:bodyPr>
            <a:lstStyle/>
            <a:p>
              <a:pPr algn="l" marL="0" indent="0" lvl="0">
                <a:lnSpc>
                  <a:spcPts val="1869"/>
                </a:lnSpc>
              </a:pPr>
              <a:r>
                <a:rPr lang="en-US" b="true" sz="2149">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PREPARED BY</a:t>
              </a:r>
            </a:p>
          </p:txBody>
        </p:sp>
        <p:sp>
          <p:nvSpPr>
            <p:cNvPr name="TextBox 12" id="12"/>
            <p:cNvSpPr txBox="true"/>
            <p:nvPr/>
          </p:nvSpPr>
          <p:spPr>
            <a:xfrm rot="0">
              <a:off x="506484" y="536670"/>
              <a:ext cx="3190280" cy="381297"/>
            </a:xfrm>
            <a:prstGeom prst="rect">
              <a:avLst/>
            </a:prstGeom>
          </p:spPr>
          <p:txBody>
            <a:bodyPr anchor="t" rtlCol="false" tIns="0" lIns="0" bIns="0" rIns="0">
              <a:spAutoFit/>
            </a:bodyPr>
            <a:lstStyle/>
            <a:p>
              <a:pPr algn="l" marL="0" indent="0" lvl="0">
                <a:lnSpc>
                  <a:spcPts val="1869"/>
                </a:lnSpc>
              </a:pPr>
              <a:r>
                <a:rPr lang="en-US" sz="2149">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Analytics Team</a:t>
              </a:r>
            </a:p>
          </p:txBody>
        </p:sp>
        <p:sp>
          <p:nvSpPr>
            <p:cNvPr name="TextBox 13" id="13"/>
            <p:cNvSpPr txBox="true"/>
            <p:nvPr/>
          </p:nvSpPr>
          <p:spPr>
            <a:xfrm rot="0">
              <a:off x="506484" y="1323462"/>
              <a:ext cx="2749098" cy="381297"/>
            </a:xfrm>
            <a:prstGeom prst="rect">
              <a:avLst/>
            </a:prstGeom>
          </p:spPr>
          <p:txBody>
            <a:bodyPr anchor="t" rtlCol="false" tIns="0" lIns="0" bIns="0" rIns="0">
              <a:spAutoFit/>
            </a:bodyPr>
            <a:lstStyle/>
            <a:p>
              <a:pPr algn="l" marL="0" indent="0" lvl="0">
                <a:lnSpc>
                  <a:spcPts val="1869"/>
                </a:lnSpc>
              </a:pPr>
              <a:r>
                <a:rPr lang="en-US" b="true" sz="2149">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DEPARTMENT</a:t>
              </a:r>
            </a:p>
          </p:txBody>
        </p:sp>
        <p:sp>
          <p:nvSpPr>
            <p:cNvPr name="TextBox 14" id="14"/>
            <p:cNvSpPr txBox="true"/>
            <p:nvPr/>
          </p:nvSpPr>
          <p:spPr>
            <a:xfrm rot="0">
              <a:off x="506484" y="1806966"/>
              <a:ext cx="3190280" cy="690116"/>
            </a:xfrm>
            <a:prstGeom prst="rect">
              <a:avLst/>
            </a:prstGeom>
          </p:spPr>
          <p:txBody>
            <a:bodyPr anchor="t" rtlCol="false" tIns="0" lIns="0" bIns="0" rIns="0">
              <a:spAutoFit/>
            </a:bodyPr>
            <a:lstStyle/>
            <a:p>
              <a:pPr algn="l" marL="0" indent="0" lvl="0">
                <a:lnSpc>
                  <a:spcPts val="1869"/>
                </a:lnSpc>
              </a:pPr>
              <a:r>
                <a:rPr lang="en-US" sz="2149">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Business Intelligence</a:t>
              </a:r>
            </a:p>
          </p:txBody>
        </p:sp>
        <p:grpSp>
          <p:nvGrpSpPr>
            <p:cNvPr name="Group 15" id="15"/>
            <p:cNvGrpSpPr/>
            <p:nvPr/>
          </p:nvGrpSpPr>
          <p:grpSpPr>
            <a:xfrm rot="0">
              <a:off x="0" y="1661082"/>
              <a:ext cx="134591" cy="13459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17" id="17"/>
              <p:cNvSpPr txBox="true"/>
              <p:nvPr/>
            </p:nvSpPr>
            <p:spPr>
              <a:xfrm>
                <a:off x="76200" y="104775"/>
                <a:ext cx="660400" cy="631825"/>
              </a:xfrm>
              <a:prstGeom prst="rect">
                <a:avLst/>
              </a:prstGeom>
            </p:spPr>
            <p:txBody>
              <a:bodyPr anchor="ctr" rtlCol="false" tIns="50800" lIns="50800" bIns="50800" rIns="50800"/>
              <a:lstStyle/>
              <a:p>
                <a:pPr algn="ctr" marL="0" indent="0" lvl="0">
                  <a:lnSpc>
                    <a:spcPts val="1308"/>
                  </a:lnSpc>
                </a:pPr>
              </a:p>
            </p:txBody>
          </p:sp>
        </p:grpSp>
      </p:grpSp>
      <p:sp>
        <p:nvSpPr>
          <p:cNvPr name="TextBox 18" id="18"/>
          <p:cNvSpPr txBox="true"/>
          <p:nvPr/>
        </p:nvSpPr>
        <p:spPr>
          <a:xfrm rot="0">
            <a:off x="3320099" y="955532"/>
            <a:ext cx="5996813" cy="4263982"/>
          </a:xfrm>
          <a:prstGeom prst="rect">
            <a:avLst/>
          </a:prstGeom>
        </p:spPr>
        <p:txBody>
          <a:bodyPr anchor="t" rtlCol="false" tIns="0" lIns="0" bIns="0" rIns="0">
            <a:spAutoFit/>
          </a:bodyPr>
          <a:lstStyle/>
          <a:p>
            <a:pPr algn="l" marL="0" indent="0" lvl="0">
              <a:lnSpc>
                <a:spcPts val="8279"/>
              </a:lnSpc>
            </a:pPr>
            <a:r>
              <a:rPr lang="en-US" sz="8448" spc="-540">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Customer</a:t>
            </a:r>
          </a:p>
          <a:p>
            <a:pPr algn="l" marL="0" indent="0" lvl="0">
              <a:lnSpc>
                <a:spcPts val="8279"/>
              </a:lnSpc>
            </a:pPr>
            <a:r>
              <a:rPr lang="en-US" sz="8448" spc="-540">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Shopping</a:t>
            </a:r>
          </a:p>
          <a:p>
            <a:pPr algn="l" marL="0" indent="0" lvl="0">
              <a:lnSpc>
                <a:spcPts val="8279"/>
              </a:lnSpc>
            </a:pPr>
            <a:r>
              <a:rPr lang="en-US" sz="8448" spc="-540">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Behaviour</a:t>
            </a:r>
          </a:p>
          <a:p>
            <a:pPr algn="l" marL="0" indent="0" lvl="0">
              <a:lnSpc>
                <a:spcPts val="8279"/>
              </a:lnSpc>
            </a:pPr>
            <a:r>
              <a:rPr lang="en-US" sz="8448" spc="-540">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Analytics</a:t>
            </a:r>
          </a:p>
        </p:txBody>
      </p:sp>
      <p:sp>
        <p:nvSpPr>
          <p:cNvPr name="TextBox 19" id="19"/>
          <p:cNvSpPr txBox="true"/>
          <p:nvPr/>
        </p:nvSpPr>
        <p:spPr>
          <a:xfrm rot="0">
            <a:off x="3320099" y="5551934"/>
            <a:ext cx="5696631" cy="1119447"/>
          </a:xfrm>
          <a:prstGeom prst="rect">
            <a:avLst/>
          </a:prstGeom>
        </p:spPr>
        <p:txBody>
          <a:bodyPr anchor="t" rtlCol="false" tIns="0" lIns="0" bIns="0" rIns="0">
            <a:spAutoFit/>
          </a:bodyPr>
          <a:lstStyle/>
          <a:p>
            <a:pPr algn="just" marL="0" indent="0" lvl="0">
              <a:lnSpc>
                <a:spcPts val="2967"/>
              </a:lnSpc>
            </a:pPr>
            <a:r>
              <a:rPr lang="en-US" sz="2318" spc="-6">
                <a:solidFill>
                  <a:srgbClr val="3A58E4"/>
                </a:solidFill>
                <a:latin typeface="Poppins"/>
                <a:ea typeface="Poppins"/>
                <a:cs typeface="Poppins"/>
                <a:sym typeface="Poppins"/>
              </a:rPr>
              <a:t>Comprehensive insights into customer purchasing patterns, revenue drivers, and data-driven recommendations.</a:t>
            </a:r>
          </a:p>
        </p:txBody>
      </p:sp>
      <p:sp>
        <p:nvSpPr>
          <p:cNvPr name="TextBox 20" id="20"/>
          <p:cNvSpPr txBox="true"/>
          <p:nvPr/>
        </p:nvSpPr>
        <p:spPr>
          <a:xfrm rot="0">
            <a:off x="350972" y="1968832"/>
            <a:ext cx="1704171" cy="342132"/>
          </a:xfrm>
          <a:prstGeom prst="rect">
            <a:avLst/>
          </a:prstGeom>
        </p:spPr>
        <p:txBody>
          <a:bodyPr anchor="t" rtlCol="false" tIns="0" lIns="0" bIns="0" rIns="0">
            <a:spAutoFit/>
          </a:bodyPr>
          <a:lstStyle/>
          <a:p>
            <a:pPr algn="ctr" marL="0" indent="0" lvl="0">
              <a:lnSpc>
                <a:spcPts val="2419"/>
              </a:lnSpc>
            </a:pPr>
            <a:r>
              <a:rPr lang="en-US" b="true" sz="2261">
                <a:solidFill>
                  <a:srgbClr val="FFFFFF"/>
                </a:solidFill>
                <a:latin typeface="Poppins Bold"/>
                <a:ea typeface="Poppins Bold"/>
                <a:cs typeface="Poppins Bold"/>
                <a:sym typeface="Poppins Bold"/>
              </a:rPr>
              <a:t>Customer</a:t>
            </a:r>
          </a:p>
        </p:txBody>
      </p:sp>
      <p:sp>
        <p:nvSpPr>
          <p:cNvPr name="TextBox 21" id="21"/>
          <p:cNvSpPr txBox="true"/>
          <p:nvPr/>
        </p:nvSpPr>
        <p:spPr>
          <a:xfrm rot="0">
            <a:off x="360740" y="2310991"/>
            <a:ext cx="1704171" cy="342132"/>
          </a:xfrm>
          <a:prstGeom prst="rect">
            <a:avLst/>
          </a:prstGeom>
        </p:spPr>
        <p:txBody>
          <a:bodyPr anchor="t" rtlCol="false" tIns="0" lIns="0" bIns="0" rIns="0">
            <a:spAutoFit/>
          </a:bodyPr>
          <a:lstStyle/>
          <a:p>
            <a:pPr algn="ctr" marL="0" indent="0" lvl="0">
              <a:lnSpc>
                <a:spcPts val="2419"/>
              </a:lnSpc>
            </a:pPr>
            <a:r>
              <a:rPr lang="en-US" sz="2261">
                <a:solidFill>
                  <a:srgbClr val="FFFFFF"/>
                </a:solidFill>
                <a:latin typeface="Poppins"/>
                <a:ea typeface="Poppins"/>
                <a:cs typeface="Poppins"/>
                <a:sym typeface="Poppins"/>
              </a:rPr>
              <a:t>Analytics</a:t>
            </a:r>
          </a:p>
        </p:txBody>
      </p:sp>
      <p:grpSp>
        <p:nvGrpSpPr>
          <p:cNvPr name="Group 22" id="22"/>
          <p:cNvGrpSpPr/>
          <p:nvPr/>
        </p:nvGrpSpPr>
        <p:grpSpPr>
          <a:xfrm rot="0">
            <a:off x="360740" y="8287049"/>
            <a:ext cx="1713939" cy="684264"/>
            <a:chOff x="0" y="0"/>
            <a:chExt cx="2285252" cy="912352"/>
          </a:xfrm>
        </p:grpSpPr>
        <p:sp>
          <p:nvSpPr>
            <p:cNvPr name="TextBox 23" id="23"/>
            <p:cNvSpPr txBox="true"/>
            <p:nvPr/>
          </p:nvSpPr>
          <p:spPr>
            <a:xfrm rot="0">
              <a:off x="0" y="0"/>
              <a:ext cx="2272228" cy="456176"/>
            </a:xfrm>
            <a:prstGeom prst="rect">
              <a:avLst/>
            </a:prstGeom>
          </p:spPr>
          <p:txBody>
            <a:bodyPr anchor="t" rtlCol="false" tIns="0" lIns="0" bIns="0" rIns="0">
              <a:spAutoFit/>
            </a:bodyPr>
            <a:lstStyle/>
            <a:p>
              <a:pPr algn="ctr" marL="0" indent="0" lvl="0">
                <a:lnSpc>
                  <a:spcPts val="2419"/>
                </a:lnSpc>
              </a:pPr>
              <a:r>
                <a:rPr lang="en-US" b="true" sz="2261">
                  <a:solidFill>
                    <a:srgbClr val="FFFFFF"/>
                  </a:solidFill>
                  <a:latin typeface="Poppins Bold"/>
                  <a:ea typeface="Poppins Bold"/>
                  <a:cs typeface="Poppins Bold"/>
                  <a:sym typeface="Poppins Bold"/>
                </a:rPr>
                <a:t>2026</a:t>
              </a:r>
            </a:p>
          </p:txBody>
        </p:sp>
        <p:sp>
          <p:nvSpPr>
            <p:cNvPr name="TextBox 24" id="24"/>
            <p:cNvSpPr txBox="true"/>
            <p:nvPr/>
          </p:nvSpPr>
          <p:spPr>
            <a:xfrm rot="0">
              <a:off x="13024" y="456176"/>
              <a:ext cx="2272228" cy="456176"/>
            </a:xfrm>
            <a:prstGeom prst="rect">
              <a:avLst/>
            </a:prstGeom>
          </p:spPr>
          <p:txBody>
            <a:bodyPr anchor="t" rtlCol="false" tIns="0" lIns="0" bIns="0" rIns="0">
              <a:spAutoFit/>
            </a:bodyPr>
            <a:lstStyle/>
            <a:p>
              <a:pPr algn="ctr" marL="0" indent="0" lvl="0">
                <a:lnSpc>
                  <a:spcPts val="2419"/>
                </a:lnSpc>
              </a:pPr>
              <a:r>
                <a:rPr lang="en-US" sz="2261">
                  <a:solidFill>
                    <a:srgbClr val="FFFFFF"/>
                  </a:solidFill>
                  <a:latin typeface="Poppins"/>
                  <a:ea typeface="Poppins"/>
                  <a:cs typeface="Poppins"/>
                  <a:sym typeface="Poppins"/>
                </a:rPr>
                <a:t>Report</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938179" cy="10287000"/>
            <a:chOff x="0" y="0"/>
            <a:chExt cx="1827339" cy="2709333"/>
          </a:xfrm>
        </p:grpSpPr>
        <p:sp>
          <p:nvSpPr>
            <p:cNvPr name="Freeform 3" id="3"/>
            <p:cNvSpPr/>
            <p:nvPr/>
          </p:nvSpPr>
          <p:spPr>
            <a:xfrm flipH="false" flipV="false" rot="0">
              <a:off x="0" y="0"/>
              <a:ext cx="1827339" cy="2709333"/>
            </a:xfrm>
            <a:custGeom>
              <a:avLst/>
              <a:gdLst/>
              <a:ahLst/>
              <a:cxnLst/>
              <a:rect r="r" b="b" t="t" l="l"/>
              <a:pathLst>
                <a:path h="2709333" w="1827339">
                  <a:moveTo>
                    <a:pt x="0" y="0"/>
                  </a:moveTo>
                  <a:lnTo>
                    <a:pt x="1827339" y="0"/>
                  </a:lnTo>
                  <a:lnTo>
                    <a:pt x="1827339" y="2709333"/>
                  </a:lnTo>
                  <a:lnTo>
                    <a:pt x="0" y="2709333"/>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4" id="4"/>
            <p:cNvSpPr txBox="true"/>
            <p:nvPr/>
          </p:nvSpPr>
          <p:spPr>
            <a:xfrm>
              <a:off x="0" y="-38100"/>
              <a:ext cx="1827339"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5343219" y="4032536"/>
            <a:ext cx="3189919" cy="620584"/>
          </a:xfrm>
          <a:custGeom>
            <a:avLst/>
            <a:gdLst/>
            <a:ahLst/>
            <a:cxnLst/>
            <a:rect r="r" b="b" t="t" l="l"/>
            <a:pathLst>
              <a:path h="620584" w="3189919">
                <a:moveTo>
                  <a:pt x="0" y="0"/>
                </a:moveTo>
                <a:lnTo>
                  <a:pt x="3189919" y="0"/>
                </a:lnTo>
                <a:lnTo>
                  <a:pt x="3189919" y="620584"/>
                </a:lnTo>
                <a:lnTo>
                  <a:pt x="0" y="620584"/>
                </a:lnTo>
                <a:lnTo>
                  <a:pt x="0" y="0"/>
                </a:lnTo>
                <a:close/>
              </a:path>
            </a:pathLst>
          </a:custGeom>
          <a:blipFill>
            <a:blip r:embed="rId2"/>
            <a:stretch>
              <a:fillRect l="0" t="0" r="0" b="0"/>
            </a:stretch>
          </a:blipFill>
        </p:spPr>
      </p:sp>
      <p:grpSp>
        <p:nvGrpSpPr>
          <p:cNvPr name="Group 6" id="6"/>
          <p:cNvGrpSpPr/>
          <p:nvPr/>
        </p:nvGrpSpPr>
        <p:grpSpPr>
          <a:xfrm rot="0">
            <a:off x="5459316" y="1438329"/>
            <a:ext cx="2920486" cy="2916826"/>
            <a:chOff x="0" y="0"/>
            <a:chExt cx="567580" cy="566868"/>
          </a:xfrm>
        </p:grpSpPr>
        <p:sp>
          <p:nvSpPr>
            <p:cNvPr name="Freeform 7" id="7"/>
            <p:cNvSpPr/>
            <p:nvPr/>
          </p:nvSpPr>
          <p:spPr>
            <a:xfrm flipH="false" flipV="false" rot="0">
              <a:off x="0" y="0"/>
              <a:ext cx="567580" cy="566868"/>
            </a:xfrm>
            <a:custGeom>
              <a:avLst/>
              <a:gdLst/>
              <a:ahLst/>
              <a:cxnLst/>
              <a:rect r="r" b="b" t="t" l="l"/>
              <a:pathLst>
                <a:path h="566868" w="567580">
                  <a:moveTo>
                    <a:pt x="119291" y="0"/>
                  </a:moveTo>
                  <a:lnTo>
                    <a:pt x="448289" y="0"/>
                  </a:lnTo>
                  <a:cubicBezTo>
                    <a:pt x="514171" y="0"/>
                    <a:pt x="567580" y="53408"/>
                    <a:pt x="567580" y="119291"/>
                  </a:cubicBezTo>
                  <a:lnTo>
                    <a:pt x="567580" y="447578"/>
                  </a:lnTo>
                  <a:cubicBezTo>
                    <a:pt x="567580" y="479216"/>
                    <a:pt x="555012" y="509558"/>
                    <a:pt x="532640" y="531929"/>
                  </a:cubicBezTo>
                  <a:cubicBezTo>
                    <a:pt x="510269" y="554300"/>
                    <a:pt x="479927" y="566868"/>
                    <a:pt x="448289" y="566868"/>
                  </a:cubicBezTo>
                  <a:lnTo>
                    <a:pt x="119291" y="566868"/>
                  </a:lnTo>
                  <a:cubicBezTo>
                    <a:pt x="87653" y="566868"/>
                    <a:pt x="57311" y="554300"/>
                    <a:pt x="34939" y="531929"/>
                  </a:cubicBezTo>
                  <a:cubicBezTo>
                    <a:pt x="12568" y="509558"/>
                    <a:pt x="0" y="479216"/>
                    <a:pt x="0" y="447578"/>
                  </a:cubicBezTo>
                  <a:lnTo>
                    <a:pt x="0" y="119291"/>
                  </a:lnTo>
                  <a:cubicBezTo>
                    <a:pt x="0" y="53408"/>
                    <a:pt x="53408" y="0"/>
                    <a:pt x="119291"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rnd">
              <a:noFill/>
              <a:prstDash val="solid"/>
              <a:round/>
            </a:ln>
          </p:spPr>
        </p:sp>
        <p:sp>
          <p:nvSpPr>
            <p:cNvPr name="TextBox 8" id="8"/>
            <p:cNvSpPr txBox="true"/>
            <p:nvPr/>
          </p:nvSpPr>
          <p:spPr>
            <a:xfrm>
              <a:off x="0" y="28575"/>
              <a:ext cx="567580" cy="538293"/>
            </a:xfrm>
            <a:prstGeom prst="rect">
              <a:avLst/>
            </a:prstGeom>
          </p:spPr>
          <p:txBody>
            <a:bodyPr anchor="ctr" rtlCol="false" tIns="65745" lIns="65745" bIns="65745" rIns="65745"/>
            <a:lstStyle/>
            <a:p>
              <a:pPr algn="ctr" marL="0" indent="0" lvl="0">
                <a:lnSpc>
                  <a:spcPts val="2460"/>
                </a:lnSpc>
              </a:pPr>
            </a:p>
          </p:txBody>
        </p:sp>
      </p:grpSp>
      <p:sp>
        <p:nvSpPr>
          <p:cNvPr name="TextBox 9" id="9"/>
          <p:cNvSpPr txBox="true"/>
          <p:nvPr/>
        </p:nvSpPr>
        <p:spPr>
          <a:xfrm rot="0">
            <a:off x="5708475" y="2171098"/>
            <a:ext cx="2459408" cy="620245"/>
          </a:xfrm>
          <a:prstGeom prst="rect">
            <a:avLst/>
          </a:prstGeom>
        </p:spPr>
        <p:txBody>
          <a:bodyPr anchor="t" rtlCol="false" tIns="0" lIns="0" bIns="0" rIns="0">
            <a:spAutoFit/>
          </a:bodyPr>
          <a:lstStyle/>
          <a:p>
            <a:pPr algn="ctr" marL="0" indent="0" lvl="0">
              <a:lnSpc>
                <a:spcPts val="4644"/>
              </a:lnSpc>
            </a:pPr>
            <a:r>
              <a:rPr lang="en-US" b="true" sz="4690" spc="-140">
                <a:solidFill>
                  <a:srgbClr val="FFFFFF"/>
                </a:solidFill>
                <a:latin typeface="Bricolage Grotesque Bold"/>
                <a:ea typeface="Bricolage Grotesque Bold"/>
                <a:cs typeface="Bricolage Grotesque Bold"/>
                <a:sym typeface="Bricolage Grotesque Bold"/>
              </a:rPr>
              <a:t>$233,081</a:t>
            </a:r>
          </a:p>
        </p:txBody>
      </p:sp>
      <p:sp>
        <p:nvSpPr>
          <p:cNvPr name="TextBox 10" id="10"/>
          <p:cNvSpPr txBox="true"/>
          <p:nvPr/>
        </p:nvSpPr>
        <p:spPr>
          <a:xfrm rot="0">
            <a:off x="5940959" y="3166937"/>
            <a:ext cx="1957200" cy="541174"/>
          </a:xfrm>
          <a:prstGeom prst="rect">
            <a:avLst/>
          </a:prstGeom>
        </p:spPr>
        <p:txBody>
          <a:bodyPr anchor="t" rtlCol="false" tIns="0" lIns="0" bIns="0" rIns="0">
            <a:spAutoFit/>
          </a:bodyPr>
          <a:lstStyle/>
          <a:p>
            <a:pPr algn="ctr" marL="0" indent="0" lvl="0">
              <a:lnSpc>
                <a:spcPts val="2195"/>
              </a:lnSpc>
            </a:pPr>
            <a:r>
              <a:rPr lang="en-US" sz="1568" spc="-39">
                <a:solidFill>
                  <a:srgbClr val="FFFFFF"/>
                </a:solidFill>
                <a:latin typeface="Poppins"/>
                <a:ea typeface="Poppins"/>
                <a:cs typeface="Poppins"/>
                <a:sym typeface="Poppins"/>
              </a:rPr>
              <a:t>TOTAL REVENUE GENERATED</a:t>
            </a:r>
          </a:p>
        </p:txBody>
      </p:sp>
      <p:sp>
        <p:nvSpPr>
          <p:cNvPr name="Freeform 11" id="11"/>
          <p:cNvSpPr/>
          <p:nvPr/>
        </p:nvSpPr>
        <p:spPr>
          <a:xfrm flipH="false" flipV="false" rot="0">
            <a:off x="1008305" y="4058930"/>
            <a:ext cx="1043213" cy="1199454"/>
          </a:xfrm>
          <a:custGeom>
            <a:avLst/>
            <a:gdLst/>
            <a:ahLst/>
            <a:cxnLst/>
            <a:rect r="r" b="b" t="t" l="l"/>
            <a:pathLst>
              <a:path h="1199454" w="1043213">
                <a:moveTo>
                  <a:pt x="0" y="0"/>
                </a:moveTo>
                <a:lnTo>
                  <a:pt x="1043213" y="0"/>
                </a:lnTo>
                <a:lnTo>
                  <a:pt x="1043213" y="1199454"/>
                </a:lnTo>
                <a:lnTo>
                  <a:pt x="0" y="1199454"/>
                </a:lnTo>
                <a:lnTo>
                  <a:pt x="0" y="0"/>
                </a:lnTo>
                <a:close/>
              </a:path>
            </a:pathLst>
          </a:custGeom>
          <a:blipFill>
            <a:blip r:embed="rId3"/>
            <a:stretch>
              <a:fillRect l="0" t="0" r="0" b="0"/>
            </a:stretch>
          </a:blipFill>
        </p:spPr>
      </p:sp>
      <p:sp>
        <p:nvSpPr>
          <p:cNvPr name="TextBox 12" id="12"/>
          <p:cNvSpPr txBox="true"/>
          <p:nvPr/>
        </p:nvSpPr>
        <p:spPr>
          <a:xfrm rot="0">
            <a:off x="1028700" y="5609992"/>
            <a:ext cx="4378886" cy="406197"/>
          </a:xfrm>
          <a:prstGeom prst="rect">
            <a:avLst/>
          </a:prstGeom>
        </p:spPr>
        <p:txBody>
          <a:bodyPr anchor="t" rtlCol="false" tIns="0" lIns="0" bIns="0" rIns="0">
            <a:spAutoFit/>
          </a:bodyPr>
          <a:lstStyle/>
          <a:p>
            <a:pPr algn="l" marL="0" indent="0" lvl="0">
              <a:lnSpc>
                <a:spcPts val="3540"/>
              </a:lnSpc>
            </a:pPr>
            <a:r>
              <a:rPr lang="en-US" b="true" sz="1639">
                <a:solidFill>
                  <a:srgbClr val="FFFFFF"/>
                </a:solidFill>
                <a:latin typeface="Poppins Bold"/>
                <a:ea typeface="Poppins Bold"/>
                <a:cs typeface="Poppins Bold"/>
                <a:sym typeface="Poppins Bold"/>
              </a:rPr>
              <a:t>TOTAL CUSTOMERS</a:t>
            </a:r>
          </a:p>
        </p:txBody>
      </p:sp>
      <p:sp>
        <p:nvSpPr>
          <p:cNvPr name="TextBox 13" id="13"/>
          <p:cNvSpPr txBox="true"/>
          <p:nvPr/>
        </p:nvSpPr>
        <p:spPr>
          <a:xfrm rot="0">
            <a:off x="1028700" y="6189450"/>
            <a:ext cx="4378886" cy="452709"/>
          </a:xfrm>
          <a:prstGeom prst="rect">
            <a:avLst/>
          </a:prstGeom>
        </p:spPr>
        <p:txBody>
          <a:bodyPr anchor="t" rtlCol="false" tIns="0" lIns="0" bIns="0" rIns="0">
            <a:spAutoFit/>
          </a:bodyPr>
          <a:lstStyle/>
          <a:p>
            <a:pPr algn="just" marL="0" indent="0" lvl="0">
              <a:lnSpc>
                <a:spcPts val="1701"/>
              </a:lnSpc>
            </a:pPr>
            <a:r>
              <a:rPr lang="en-US" sz="1394">
                <a:solidFill>
                  <a:srgbClr val="FFFFFF"/>
                </a:solidFill>
                <a:latin typeface="Poppins"/>
                <a:ea typeface="Poppins"/>
                <a:cs typeface="Poppins"/>
                <a:sym typeface="Poppins"/>
              </a:rPr>
              <a:t>3,900 unique customers analyzed across all shopping segments.</a:t>
            </a:r>
          </a:p>
        </p:txBody>
      </p:sp>
      <p:grpSp>
        <p:nvGrpSpPr>
          <p:cNvPr name="Group 14" id="14"/>
          <p:cNvGrpSpPr/>
          <p:nvPr/>
        </p:nvGrpSpPr>
        <p:grpSpPr>
          <a:xfrm rot="0">
            <a:off x="1028700" y="7209004"/>
            <a:ext cx="4378886" cy="739706"/>
            <a:chOff x="0" y="0"/>
            <a:chExt cx="5838515" cy="986274"/>
          </a:xfrm>
        </p:grpSpPr>
        <p:sp>
          <p:nvSpPr>
            <p:cNvPr name="TextBox 15" id="15"/>
            <p:cNvSpPr txBox="true"/>
            <p:nvPr/>
          </p:nvSpPr>
          <p:spPr>
            <a:xfrm rot="0">
              <a:off x="0" y="-161925"/>
              <a:ext cx="5838515" cy="487621"/>
            </a:xfrm>
            <a:prstGeom prst="rect">
              <a:avLst/>
            </a:prstGeom>
          </p:spPr>
          <p:txBody>
            <a:bodyPr anchor="t" rtlCol="false" tIns="0" lIns="0" bIns="0" rIns="0">
              <a:spAutoFit/>
            </a:bodyPr>
            <a:lstStyle/>
            <a:p>
              <a:pPr algn="l" marL="0" indent="0" lvl="0">
                <a:lnSpc>
                  <a:spcPts val="3540"/>
                </a:lnSpc>
              </a:pPr>
              <a:r>
                <a:rPr lang="en-US" b="true" sz="1639">
                  <a:solidFill>
                    <a:srgbClr val="FFFFFF"/>
                  </a:solidFill>
                  <a:latin typeface="Poppins Bold"/>
                  <a:ea typeface="Poppins Bold"/>
                  <a:cs typeface="Poppins Bold"/>
                  <a:sym typeface="Poppins Bold"/>
                </a:rPr>
                <a:t>DATA PERIOD</a:t>
              </a:r>
            </a:p>
          </p:txBody>
        </p:sp>
        <p:sp>
          <p:nvSpPr>
            <p:cNvPr name="TextBox 16" id="16"/>
            <p:cNvSpPr txBox="true"/>
            <p:nvPr/>
          </p:nvSpPr>
          <p:spPr>
            <a:xfrm rot="0">
              <a:off x="0" y="392187"/>
              <a:ext cx="5838515" cy="594087"/>
            </a:xfrm>
            <a:prstGeom prst="rect">
              <a:avLst/>
            </a:prstGeom>
          </p:spPr>
          <p:txBody>
            <a:bodyPr anchor="t" rtlCol="false" tIns="0" lIns="0" bIns="0" rIns="0">
              <a:spAutoFit/>
            </a:bodyPr>
            <a:lstStyle/>
            <a:p>
              <a:pPr algn="just" marL="0" indent="0" lvl="0">
                <a:lnSpc>
                  <a:spcPts val="1701"/>
                </a:lnSpc>
              </a:pPr>
              <a:r>
                <a:rPr lang="en-US" sz="1394">
                  <a:solidFill>
                    <a:srgbClr val="FFFFFF"/>
                  </a:solidFill>
                  <a:latin typeface="Poppins"/>
                  <a:ea typeface="Poppins"/>
                  <a:cs typeface="Poppins"/>
                  <a:sym typeface="Poppins"/>
                </a:rPr>
                <a:t>Comprehensive analysis of customer purchase patterns and behaviors.</a:t>
              </a:r>
            </a:p>
          </p:txBody>
        </p:sp>
      </p:grpSp>
      <p:grpSp>
        <p:nvGrpSpPr>
          <p:cNvPr name="Group 17" id="17"/>
          <p:cNvGrpSpPr/>
          <p:nvPr/>
        </p:nvGrpSpPr>
        <p:grpSpPr>
          <a:xfrm rot="0">
            <a:off x="1028700" y="8518594"/>
            <a:ext cx="4378886" cy="739706"/>
            <a:chOff x="0" y="0"/>
            <a:chExt cx="5838515" cy="986274"/>
          </a:xfrm>
        </p:grpSpPr>
        <p:sp>
          <p:nvSpPr>
            <p:cNvPr name="TextBox 18" id="18"/>
            <p:cNvSpPr txBox="true"/>
            <p:nvPr/>
          </p:nvSpPr>
          <p:spPr>
            <a:xfrm rot="0">
              <a:off x="0" y="-161925"/>
              <a:ext cx="5838515" cy="487621"/>
            </a:xfrm>
            <a:prstGeom prst="rect">
              <a:avLst/>
            </a:prstGeom>
          </p:spPr>
          <p:txBody>
            <a:bodyPr anchor="t" rtlCol="false" tIns="0" lIns="0" bIns="0" rIns="0">
              <a:spAutoFit/>
            </a:bodyPr>
            <a:lstStyle/>
            <a:p>
              <a:pPr algn="l" marL="0" indent="0" lvl="0">
                <a:lnSpc>
                  <a:spcPts val="3540"/>
                </a:lnSpc>
              </a:pPr>
              <a:r>
                <a:rPr lang="en-US" b="true" sz="1639">
                  <a:solidFill>
                    <a:srgbClr val="FFFFFF"/>
                  </a:solidFill>
                  <a:latin typeface="Poppins Bold"/>
                  <a:ea typeface="Poppins Bold"/>
                  <a:cs typeface="Poppins Bold"/>
                  <a:sym typeface="Poppins Bold"/>
                </a:rPr>
                <a:t>KEY INSIGHTS</a:t>
              </a:r>
            </a:p>
          </p:txBody>
        </p:sp>
        <p:sp>
          <p:nvSpPr>
            <p:cNvPr name="TextBox 19" id="19"/>
            <p:cNvSpPr txBox="true"/>
            <p:nvPr/>
          </p:nvSpPr>
          <p:spPr>
            <a:xfrm rot="0">
              <a:off x="0" y="392187"/>
              <a:ext cx="5838515" cy="594087"/>
            </a:xfrm>
            <a:prstGeom prst="rect">
              <a:avLst/>
            </a:prstGeom>
          </p:spPr>
          <p:txBody>
            <a:bodyPr anchor="t" rtlCol="false" tIns="0" lIns="0" bIns="0" rIns="0">
              <a:spAutoFit/>
            </a:bodyPr>
            <a:lstStyle/>
            <a:p>
              <a:pPr algn="just" marL="0" indent="0" lvl="0">
                <a:lnSpc>
                  <a:spcPts val="1701"/>
                </a:lnSpc>
              </a:pPr>
              <a:r>
                <a:rPr lang="en-US" sz="1394">
                  <a:solidFill>
                    <a:srgbClr val="FFFFFF"/>
                  </a:solidFill>
                  <a:latin typeface="Poppins"/>
                  <a:ea typeface="Poppins"/>
                  <a:cs typeface="Poppins"/>
                  <a:sym typeface="Poppins"/>
                </a:rPr>
                <a:t>Actionable recommendations based on shopping behavior analytics.</a:t>
              </a:r>
            </a:p>
          </p:txBody>
        </p:sp>
      </p:grpSp>
      <p:grpSp>
        <p:nvGrpSpPr>
          <p:cNvPr name="Group 20" id="20"/>
          <p:cNvGrpSpPr/>
          <p:nvPr/>
        </p:nvGrpSpPr>
        <p:grpSpPr>
          <a:xfrm rot="0">
            <a:off x="9345491" y="1441722"/>
            <a:ext cx="7522404" cy="7485580"/>
            <a:chOff x="0" y="0"/>
            <a:chExt cx="10029872" cy="9980773"/>
          </a:xfrm>
        </p:grpSpPr>
        <p:sp>
          <p:nvSpPr>
            <p:cNvPr name="TextBox 21" id="21"/>
            <p:cNvSpPr txBox="true"/>
            <p:nvPr/>
          </p:nvSpPr>
          <p:spPr>
            <a:xfrm rot="0">
              <a:off x="1033544" y="-47625"/>
              <a:ext cx="7126880" cy="394874"/>
            </a:xfrm>
            <a:prstGeom prst="rect">
              <a:avLst/>
            </a:prstGeom>
          </p:spPr>
          <p:txBody>
            <a:bodyPr anchor="t" rtlCol="false" tIns="0" lIns="0" bIns="0" rIns="0">
              <a:spAutoFit/>
            </a:bodyPr>
            <a:lstStyle/>
            <a:p>
              <a:pPr algn="just" marL="0" indent="0" lvl="0">
                <a:lnSpc>
                  <a:spcPts val="2445"/>
                </a:lnSpc>
              </a:pPr>
              <a:r>
                <a:rPr lang="en-US" b="true" sz="1746" spc="-43">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REVENUE PERFORMANCE</a:t>
              </a:r>
            </a:p>
          </p:txBody>
        </p:sp>
        <p:sp>
          <p:nvSpPr>
            <p:cNvPr name="TextBox 22" id="22"/>
            <p:cNvSpPr txBox="true"/>
            <p:nvPr/>
          </p:nvSpPr>
          <p:spPr>
            <a:xfrm rot="0">
              <a:off x="1033544" y="1797612"/>
              <a:ext cx="8996329" cy="1098592"/>
            </a:xfrm>
            <a:prstGeom prst="rect">
              <a:avLst/>
            </a:prstGeom>
          </p:spPr>
          <p:txBody>
            <a:bodyPr anchor="t" rtlCol="false" tIns="0" lIns="0" bIns="0" rIns="0">
              <a:spAutoFit/>
            </a:bodyPr>
            <a:lstStyle/>
            <a:p>
              <a:pPr algn="just" marL="0" indent="0" lvl="0">
                <a:lnSpc>
                  <a:spcPts val="2229"/>
                </a:lnSpc>
              </a:pPr>
              <a:r>
                <a:rPr lang="en-US" sz="1592" spc="-39">
                  <a:solidFill>
                    <a:srgbClr val="3A58E4"/>
                  </a:solidFill>
                  <a:latin typeface="Poppins"/>
                  <a:ea typeface="Poppins"/>
                  <a:cs typeface="Poppins"/>
                  <a:sym typeface="Poppins"/>
                </a:rPr>
                <a:t>Total revenue of $233,081 generated from 3,900 customers, reflecting strong sales performance across all product categories. Average revenue per customer demonstrates healthy purchasing patterns.</a:t>
              </a:r>
            </a:p>
          </p:txBody>
        </p:sp>
        <p:sp>
          <p:nvSpPr>
            <p:cNvPr name="TextBox 23" id="23"/>
            <p:cNvSpPr txBox="true"/>
            <p:nvPr/>
          </p:nvSpPr>
          <p:spPr>
            <a:xfrm rot="0">
              <a:off x="1033544" y="3494660"/>
              <a:ext cx="7126880" cy="394874"/>
            </a:xfrm>
            <a:prstGeom prst="rect">
              <a:avLst/>
            </a:prstGeom>
          </p:spPr>
          <p:txBody>
            <a:bodyPr anchor="t" rtlCol="false" tIns="0" lIns="0" bIns="0" rIns="0">
              <a:spAutoFit/>
            </a:bodyPr>
            <a:lstStyle/>
            <a:p>
              <a:pPr algn="just" marL="0" indent="0" lvl="0">
                <a:lnSpc>
                  <a:spcPts val="2445"/>
                </a:lnSpc>
              </a:pPr>
              <a:r>
                <a:rPr lang="en-US" b="true" sz="1746" spc="-43">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CUSTOMER BASE ANALYSIS</a:t>
              </a:r>
            </a:p>
          </p:txBody>
        </p:sp>
        <p:sp>
          <p:nvSpPr>
            <p:cNvPr name="TextBox 24" id="24"/>
            <p:cNvSpPr txBox="true"/>
            <p:nvPr/>
          </p:nvSpPr>
          <p:spPr>
            <a:xfrm rot="0">
              <a:off x="1033544" y="5339896"/>
              <a:ext cx="8996329" cy="1098592"/>
            </a:xfrm>
            <a:prstGeom prst="rect">
              <a:avLst/>
            </a:prstGeom>
          </p:spPr>
          <p:txBody>
            <a:bodyPr anchor="t" rtlCol="false" tIns="0" lIns="0" bIns="0" rIns="0">
              <a:spAutoFit/>
            </a:bodyPr>
            <a:lstStyle/>
            <a:p>
              <a:pPr algn="just" marL="0" indent="0" lvl="0">
                <a:lnSpc>
                  <a:spcPts val="2229"/>
                </a:lnSpc>
              </a:pPr>
              <a:r>
                <a:rPr lang="en-US" sz="1592" spc="-39">
                  <a:solidFill>
                    <a:srgbClr val="3A58E4"/>
                  </a:solidFill>
                  <a:latin typeface="Poppins"/>
                  <a:ea typeface="Poppins"/>
                  <a:cs typeface="Poppins"/>
                  <a:sym typeface="Poppins"/>
                </a:rPr>
                <a:t>Customer segmentation reveals diverse shopping behaviors across New, Returning, and Loyal customer groups. Subscription rates and discount utilization show opportunities for growth.</a:t>
              </a:r>
            </a:p>
          </p:txBody>
        </p:sp>
        <p:sp>
          <p:nvSpPr>
            <p:cNvPr name="TextBox 25" id="25"/>
            <p:cNvSpPr txBox="true"/>
            <p:nvPr/>
          </p:nvSpPr>
          <p:spPr>
            <a:xfrm rot="0">
              <a:off x="1033544" y="7036944"/>
              <a:ext cx="7126880" cy="394874"/>
            </a:xfrm>
            <a:prstGeom prst="rect">
              <a:avLst/>
            </a:prstGeom>
          </p:spPr>
          <p:txBody>
            <a:bodyPr anchor="t" rtlCol="false" tIns="0" lIns="0" bIns="0" rIns="0">
              <a:spAutoFit/>
            </a:bodyPr>
            <a:lstStyle/>
            <a:p>
              <a:pPr algn="just" marL="0" indent="0" lvl="0">
                <a:lnSpc>
                  <a:spcPts val="2445"/>
                </a:lnSpc>
              </a:pPr>
              <a:r>
                <a:rPr lang="en-US" b="true" sz="1746" spc="-43">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STRATEGIC OPPORTUNITIES</a:t>
              </a:r>
            </a:p>
          </p:txBody>
        </p:sp>
        <p:sp>
          <p:nvSpPr>
            <p:cNvPr name="TextBox 26" id="26"/>
            <p:cNvSpPr txBox="true"/>
            <p:nvPr/>
          </p:nvSpPr>
          <p:spPr>
            <a:xfrm rot="0">
              <a:off x="1033544" y="8882181"/>
              <a:ext cx="8996329" cy="1098592"/>
            </a:xfrm>
            <a:prstGeom prst="rect">
              <a:avLst/>
            </a:prstGeom>
          </p:spPr>
          <p:txBody>
            <a:bodyPr anchor="t" rtlCol="false" tIns="0" lIns="0" bIns="0" rIns="0">
              <a:spAutoFit/>
            </a:bodyPr>
            <a:lstStyle/>
            <a:p>
              <a:pPr algn="just" marL="0" indent="0" lvl="0">
                <a:lnSpc>
                  <a:spcPts val="2229"/>
                </a:lnSpc>
              </a:pPr>
              <a:r>
                <a:rPr lang="en-US" sz="1592" spc="-39">
                  <a:solidFill>
                    <a:srgbClr val="3A58E4"/>
                  </a:solidFill>
                  <a:latin typeface="Poppins"/>
                  <a:ea typeface="Poppins"/>
                  <a:cs typeface="Poppins"/>
                  <a:sym typeface="Poppins"/>
                </a:rPr>
                <a:t>Key areas for optimization include targeted marketing for high-value segments, shipping preference alignment, and personalized discount strategies to maximize customer lifetime value.</a:t>
              </a:r>
            </a:p>
          </p:txBody>
        </p:sp>
        <p:sp>
          <p:nvSpPr>
            <p:cNvPr name="TextBox 27" id="27"/>
            <p:cNvSpPr txBox="true"/>
            <p:nvPr/>
          </p:nvSpPr>
          <p:spPr>
            <a:xfrm rot="0">
              <a:off x="0" y="1226933"/>
              <a:ext cx="643052" cy="260602"/>
            </a:xfrm>
            <a:prstGeom prst="rect">
              <a:avLst/>
            </a:prstGeom>
          </p:spPr>
          <p:txBody>
            <a:bodyPr anchor="t" rtlCol="false" tIns="0" lIns="0" bIns="0" rIns="0">
              <a:spAutoFit/>
            </a:bodyPr>
            <a:lstStyle/>
            <a:p>
              <a:pPr algn="l" marL="0" indent="0" lvl="0">
                <a:lnSpc>
                  <a:spcPts val="1421"/>
                </a:lnSpc>
              </a:pPr>
              <a:r>
                <a:rPr lang="en-US" sz="1435" spc="-43">
                  <a:solidFill>
                    <a:srgbClr val="3A58E4"/>
                  </a:solidFill>
                  <a:latin typeface="Bricolage Grotesque"/>
                  <a:ea typeface="Bricolage Grotesque"/>
                  <a:cs typeface="Bricolage Grotesque"/>
                  <a:sym typeface="Bricolage Grotesque"/>
                </a:rPr>
                <a:t>01</a:t>
              </a:r>
            </a:p>
          </p:txBody>
        </p:sp>
        <p:sp>
          <p:nvSpPr>
            <p:cNvPr name="TextBox 28" id="28"/>
            <p:cNvSpPr txBox="true"/>
            <p:nvPr/>
          </p:nvSpPr>
          <p:spPr>
            <a:xfrm rot="0">
              <a:off x="0" y="4769218"/>
              <a:ext cx="643052" cy="260602"/>
            </a:xfrm>
            <a:prstGeom prst="rect">
              <a:avLst/>
            </a:prstGeom>
          </p:spPr>
          <p:txBody>
            <a:bodyPr anchor="t" rtlCol="false" tIns="0" lIns="0" bIns="0" rIns="0">
              <a:spAutoFit/>
            </a:bodyPr>
            <a:lstStyle/>
            <a:p>
              <a:pPr algn="l" marL="0" indent="0" lvl="0">
                <a:lnSpc>
                  <a:spcPts val="1421"/>
                </a:lnSpc>
              </a:pPr>
              <a:r>
                <a:rPr lang="en-US" sz="1435" spc="-43">
                  <a:solidFill>
                    <a:srgbClr val="3A58E4"/>
                  </a:solidFill>
                  <a:latin typeface="Bricolage Grotesque"/>
                  <a:ea typeface="Bricolage Grotesque"/>
                  <a:cs typeface="Bricolage Grotesque"/>
                  <a:sym typeface="Bricolage Grotesque"/>
                </a:rPr>
                <a:t>02</a:t>
              </a:r>
            </a:p>
          </p:txBody>
        </p:sp>
        <p:sp>
          <p:nvSpPr>
            <p:cNvPr name="TextBox 29" id="29"/>
            <p:cNvSpPr txBox="true"/>
            <p:nvPr/>
          </p:nvSpPr>
          <p:spPr>
            <a:xfrm rot="0">
              <a:off x="0" y="8311502"/>
              <a:ext cx="643052" cy="260602"/>
            </a:xfrm>
            <a:prstGeom prst="rect">
              <a:avLst/>
            </a:prstGeom>
          </p:spPr>
          <p:txBody>
            <a:bodyPr anchor="t" rtlCol="false" tIns="0" lIns="0" bIns="0" rIns="0">
              <a:spAutoFit/>
            </a:bodyPr>
            <a:lstStyle/>
            <a:p>
              <a:pPr algn="l" marL="0" indent="0" lvl="0">
                <a:lnSpc>
                  <a:spcPts val="1421"/>
                </a:lnSpc>
              </a:pPr>
              <a:r>
                <a:rPr lang="en-US" sz="1435" spc="-43">
                  <a:solidFill>
                    <a:srgbClr val="3A58E4"/>
                  </a:solidFill>
                  <a:latin typeface="Bricolage Grotesque"/>
                  <a:ea typeface="Bricolage Grotesque"/>
                  <a:cs typeface="Bricolage Grotesque"/>
                  <a:sym typeface="Bricolage Grotesque"/>
                </a:rPr>
                <a:t>03</a:t>
              </a:r>
            </a:p>
          </p:txBody>
        </p:sp>
      </p:grpSp>
      <p:grpSp>
        <p:nvGrpSpPr>
          <p:cNvPr name="Group 30" id="30"/>
          <p:cNvGrpSpPr/>
          <p:nvPr/>
        </p:nvGrpSpPr>
        <p:grpSpPr>
          <a:xfrm rot="0">
            <a:off x="1028700" y="1196251"/>
            <a:ext cx="24226" cy="1038034"/>
            <a:chOff x="0" y="0"/>
            <a:chExt cx="12543" cy="537460"/>
          </a:xfrm>
        </p:grpSpPr>
        <p:sp>
          <p:nvSpPr>
            <p:cNvPr name="Freeform 31" id="31"/>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FFFFFF"/>
            </a:solidFill>
          </p:spPr>
        </p:sp>
        <p:sp>
          <p:nvSpPr>
            <p:cNvPr name="TextBox 32" id="32"/>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33" id="33"/>
          <p:cNvSpPr txBox="true"/>
          <p:nvPr/>
        </p:nvSpPr>
        <p:spPr>
          <a:xfrm rot="0">
            <a:off x="1144711" y="1416837"/>
            <a:ext cx="2753109" cy="984998"/>
          </a:xfrm>
          <a:prstGeom prst="rect">
            <a:avLst/>
          </a:prstGeom>
        </p:spPr>
        <p:txBody>
          <a:bodyPr anchor="t" rtlCol="false" tIns="0" lIns="0" bIns="0" rIns="0">
            <a:spAutoFit/>
          </a:bodyPr>
          <a:lstStyle/>
          <a:p>
            <a:pPr algn="l" marL="0" indent="0" lvl="0">
              <a:lnSpc>
                <a:spcPts val="3763"/>
              </a:lnSpc>
            </a:pPr>
            <a:r>
              <a:rPr lang="en-US" sz="3839" spc="-245">
                <a:solidFill>
                  <a:srgbClr val="FFFFFF"/>
                </a:solidFill>
                <a:latin typeface="Bricolage Grotesque"/>
                <a:ea typeface="Bricolage Grotesque"/>
                <a:cs typeface="Bricolage Grotesque"/>
                <a:sym typeface="Bricolage Grotesque"/>
              </a:rPr>
              <a:t>Executive Summary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828142" y="1358088"/>
            <a:ext cx="47625" cy="2040668"/>
            <a:chOff x="0" y="0"/>
            <a:chExt cx="12543" cy="537460"/>
          </a:xfrm>
        </p:grpSpPr>
        <p:sp>
          <p:nvSpPr>
            <p:cNvPr name="Freeform 3" id="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4" id="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7828142" y="4449725"/>
            <a:ext cx="9021242" cy="379246"/>
            <a:chOff x="0" y="0"/>
            <a:chExt cx="12028323" cy="505662"/>
          </a:xfrm>
        </p:grpSpPr>
        <p:sp>
          <p:nvSpPr>
            <p:cNvPr name="TextBox 6" id="6"/>
            <p:cNvSpPr txBox="true"/>
            <p:nvPr/>
          </p:nvSpPr>
          <p:spPr>
            <a:xfrm rot="0">
              <a:off x="0" y="24608"/>
              <a:ext cx="11773903" cy="481053"/>
            </a:xfrm>
            <a:prstGeom prst="rect">
              <a:avLst/>
            </a:prstGeom>
          </p:spPr>
          <p:txBody>
            <a:bodyPr anchor="t" rtlCol="false" tIns="0" lIns="0" bIns="0" rIns="0">
              <a:spAutoFit/>
            </a:bodyPr>
            <a:lstStyle/>
            <a:p>
              <a:pPr algn="l" marL="0" indent="0" lvl="0">
                <a:lnSpc>
                  <a:spcPts val="2951"/>
                </a:lnSpc>
              </a:pPr>
              <a:r>
                <a:rPr lang="en-US" b="true" sz="2108" spc="-52">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GENDER-BASED REVENUE DISTRIBUTION AND PURCHASING PATTERNS</a:t>
              </a:r>
            </a:p>
          </p:txBody>
        </p:sp>
        <p:sp>
          <p:nvSpPr>
            <p:cNvPr name="Freeform 7" id="7"/>
            <p:cNvSpPr/>
            <p:nvPr/>
          </p:nvSpPr>
          <p:spPr>
            <a:xfrm flipH="false" flipV="false" rot="-8687136">
              <a:off x="11711303"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8" id="8"/>
          <p:cNvGrpSpPr/>
          <p:nvPr/>
        </p:nvGrpSpPr>
        <p:grpSpPr>
          <a:xfrm rot="0">
            <a:off x="16438046" y="105992"/>
            <a:ext cx="1849954" cy="1742174"/>
            <a:chOff x="0" y="0"/>
            <a:chExt cx="2466605" cy="2322899"/>
          </a:xfrm>
        </p:grpSpPr>
        <p:grpSp>
          <p:nvGrpSpPr>
            <p:cNvPr name="Group 9" id="9"/>
            <p:cNvGrpSpPr/>
            <p:nvPr/>
          </p:nvGrpSpPr>
          <p:grpSpPr>
            <a:xfrm rot="0">
              <a:off x="0" y="0"/>
              <a:ext cx="2466605" cy="2322899"/>
              <a:chOff x="0" y="0"/>
              <a:chExt cx="787566" cy="741682"/>
            </a:xfrm>
          </p:grpSpPr>
          <p:sp>
            <p:nvSpPr>
              <p:cNvPr name="Freeform 10" id="10"/>
              <p:cNvSpPr/>
              <p:nvPr/>
            </p:nvSpPr>
            <p:spPr>
              <a:xfrm flipH="false" flipV="false" rot="0">
                <a:off x="0" y="0"/>
                <a:ext cx="787566" cy="741682"/>
              </a:xfrm>
              <a:custGeom>
                <a:avLst/>
                <a:gdLst/>
                <a:ahLst/>
                <a:cxnLst/>
                <a:rect r="r" b="b" t="t" l="l"/>
                <a:pathLst>
                  <a:path h="741682" w="787566">
                    <a:moveTo>
                      <a:pt x="0" y="0"/>
                    </a:moveTo>
                    <a:lnTo>
                      <a:pt x="787566" y="0"/>
                    </a:lnTo>
                    <a:lnTo>
                      <a:pt x="787566" y="741682"/>
                    </a:lnTo>
                    <a:lnTo>
                      <a:pt x="0" y="741682"/>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1" id="11"/>
              <p:cNvSpPr txBox="true"/>
              <p:nvPr/>
            </p:nvSpPr>
            <p:spPr>
              <a:xfrm>
                <a:off x="0" y="-38100"/>
                <a:ext cx="787566" cy="77978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319164" y="684524"/>
              <a:ext cx="1828278" cy="1068151"/>
            </a:xfrm>
            <a:prstGeom prst="rect">
              <a:avLst/>
            </a:prstGeom>
          </p:spPr>
          <p:txBody>
            <a:bodyPr anchor="t" rtlCol="false" tIns="0" lIns="0" bIns="0" rIns="0">
              <a:spAutoFit/>
            </a:bodyPr>
            <a:lstStyle/>
            <a:p>
              <a:pPr algn="ctr" marL="0" indent="0" lvl="0">
                <a:lnSpc>
                  <a:spcPts val="5715"/>
                </a:lnSpc>
              </a:pPr>
              <a:r>
                <a:rPr lang="en-US" sz="5831" spc="-373">
                  <a:solidFill>
                    <a:srgbClr val="FFFFFF"/>
                  </a:solidFill>
                  <a:latin typeface="Bricolage Grotesque"/>
                  <a:ea typeface="Bricolage Grotesque"/>
                  <a:cs typeface="Bricolage Grotesque"/>
                  <a:sym typeface="Bricolage Grotesque"/>
                </a:rPr>
                <a:t>03</a:t>
              </a:r>
            </a:p>
          </p:txBody>
        </p:sp>
      </p:grpSp>
      <p:sp>
        <p:nvSpPr>
          <p:cNvPr name="AutoShape 13" id="13"/>
          <p:cNvSpPr/>
          <p:nvPr/>
        </p:nvSpPr>
        <p:spPr>
          <a:xfrm flipH="true">
            <a:off x="6542795" y="0"/>
            <a:ext cx="0" cy="10287000"/>
          </a:xfrm>
          <a:prstGeom prst="line">
            <a:avLst/>
          </a:prstGeom>
          <a:ln cap="rnd" w="19050">
            <a:solidFill>
              <a:srgbClr val="3A58E4"/>
            </a:solidFill>
            <a:prstDash val="solid"/>
            <a:headEnd type="none" len="sm" w="sm"/>
            <a:tailEnd type="none" len="sm" w="sm"/>
          </a:ln>
        </p:spPr>
      </p:sp>
      <p:sp>
        <p:nvSpPr>
          <p:cNvPr name="AutoShape 14" id="14"/>
          <p:cNvSpPr/>
          <p:nvPr/>
        </p:nvSpPr>
        <p:spPr>
          <a:xfrm>
            <a:off x="0" y="5320770"/>
            <a:ext cx="6542795" cy="0"/>
          </a:xfrm>
          <a:prstGeom prst="line">
            <a:avLst/>
          </a:prstGeom>
          <a:ln cap="rnd" w="19050">
            <a:solidFill>
              <a:srgbClr val="3A58E4"/>
            </a:solidFill>
            <a:prstDash val="solid"/>
            <a:headEnd type="none" len="sm" w="sm"/>
            <a:tailEnd type="none" len="sm" w="sm"/>
          </a:ln>
        </p:spPr>
      </p:sp>
      <p:grpSp>
        <p:nvGrpSpPr>
          <p:cNvPr name="Group 15" id="15"/>
          <p:cNvGrpSpPr/>
          <p:nvPr/>
        </p:nvGrpSpPr>
        <p:grpSpPr>
          <a:xfrm rot="0">
            <a:off x="197452" y="174137"/>
            <a:ext cx="6165930" cy="4969363"/>
            <a:chOff x="0" y="0"/>
            <a:chExt cx="955264" cy="769884"/>
          </a:xfrm>
        </p:grpSpPr>
        <p:sp>
          <p:nvSpPr>
            <p:cNvPr name="Freeform 16" id="16"/>
            <p:cNvSpPr/>
            <p:nvPr/>
          </p:nvSpPr>
          <p:spPr>
            <a:xfrm flipH="false" flipV="false" rot="0">
              <a:off x="0" y="0"/>
              <a:ext cx="955264" cy="769884"/>
            </a:xfrm>
            <a:custGeom>
              <a:avLst/>
              <a:gdLst/>
              <a:ahLst/>
              <a:cxnLst/>
              <a:rect r="r" b="b" t="t" l="l"/>
              <a:pathLst>
                <a:path h="769884" w="955264">
                  <a:moveTo>
                    <a:pt x="0" y="0"/>
                  </a:moveTo>
                  <a:lnTo>
                    <a:pt x="955264" y="0"/>
                  </a:lnTo>
                  <a:lnTo>
                    <a:pt x="955264" y="769884"/>
                  </a:lnTo>
                  <a:lnTo>
                    <a:pt x="0" y="769884"/>
                  </a:lnTo>
                  <a:close/>
                </a:path>
              </a:pathLst>
            </a:custGeom>
            <a:blipFill>
              <a:blip r:embed="rId4"/>
              <a:stretch>
                <a:fillRect l="0" t="-174" r="0" b="-174"/>
              </a:stretch>
            </a:blipFill>
          </p:spPr>
        </p:sp>
      </p:grpSp>
      <p:sp>
        <p:nvSpPr>
          <p:cNvPr name="TextBox 17" id="17"/>
          <p:cNvSpPr txBox="true"/>
          <p:nvPr/>
        </p:nvSpPr>
        <p:spPr>
          <a:xfrm rot="0">
            <a:off x="8056208" y="1504950"/>
            <a:ext cx="7107541" cy="2223193"/>
          </a:xfrm>
          <a:prstGeom prst="rect">
            <a:avLst/>
          </a:prstGeom>
        </p:spPr>
        <p:txBody>
          <a:bodyPr anchor="t" rtlCol="false" tIns="0" lIns="0" bIns="0" rIns="0">
            <a:spAutoFit/>
          </a:bodyPr>
          <a:lstStyle/>
          <a:p>
            <a:pPr algn="l" marL="0" indent="0" lvl="0">
              <a:lnSpc>
                <a:spcPts val="8540"/>
              </a:lnSpc>
            </a:pPr>
            <a:r>
              <a:rPr lang="en-US" sz="8715" spc="-557">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Revenue</a:t>
            </a:r>
          </a:p>
          <a:p>
            <a:pPr algn="l" marL="0" indent="0" lvl="0">
              <a:lnSpc>
                <a:spcPts val="8540"/>
              </a:lnSpc>
            </a:pPr>
            <a:r>
              <a:rPr lang="en-US" sz="8715" spc="-557">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by Gender</a:t>
            </a:r>
          </a:p>
        </p:txBody>
      </p:sp>
      <p:sp>
        <p:nvSpPr>
          <p:cNvPr name="TextBox 18" id="18"/>
          <p:cNvSpPr txBox="true"/>
          <p:nvPr/>
        </p:nvSpPr>
        <p:spPr>
          <a:xfrm rot="0">
            <a:off x="7828142" y="6315839"/>
            <a:ext cx="9021242" cy="2750203"/>
          </a:xfrm>
          <a:prstGeom prst="rect">
            <a:avLst/>
          </a:prstGeom>
        </p:spPr>
        <p:txBody>
          <a:bodyPr anchor="t" rtlCol="false" tIns="0" lIns="0" bIns="0" rIns="0">
            <a:spAutoFit/>
          </a:bodyPr>
          <a:lstStyle/>
          <a:p>
            <a:pPr algn="just" marL="0" indent="0" lvl="0">
              <a:lnSpc>
                <a:spcPts val="2764"/>
              </a:lnSpc>
            </a:pPr>
            <a:r>
              <a:rPr lang="en-US" sz="1974" spc="-5">
                <a:solidFill>
                  <a:srgbClr val="3A58E4"/>
                </a:solidFill>
                <a:latin typeface="Poppins"/>
                <a:ea typeface="Poppins"/>
                <a:cs typeface="Poppins"/>
                <a:sym typeface="Poppins"/>
              </a:rPr>
              <a:t>Analysis of our customer base reveals a balanced gender distribution in purchasing behavior. Female customers contribute 52% of total revenue ($121,202), while male customers account for 48% ($111,879). Female shoppers show higher average transaction values at $62.50 compared to $58.90 for male customers. Both segments demonstrate strong engagement with seasonal promotions, though female customers show 15% higher response rates to personalized recommendations and loyalty program incentives.</a:t>
            </a:r>
          </a:p>
        </p:txBody>
      </p:sp>
      <p:sp>
        <p:nvSpPr>
          <p:cNvPr name="TextBox 19" id="19"/>
          <p:cNvSpPr txBox="true"/>
          <p:nvPr/>
        </p:nvSpPr>
        <p:spPr>
          <a:xfrm rot="0">
            <a:off x="1736067" y="8373239"/>
            <a:ext cx="3088700" cy="692803"/>
          </a:xfrm>
          <a:prstGeom prst="rect">
            <a:avLst/>
          </a:prstGeom>
        </p:spPr>
        <p:txBody>
          <a:bodyPr anchor="t" rtlCol="false" tIns="0" lIns="0" bIns="0" rIns="0">
            <a:spAutoFit/>
          </a:bodyPr>
          <a:lstStyle/>
          <a:p>
            <a:pPr algn="ctr" marL="0" indent="0" lvl="0">
              <a:lnSpc>
                <a:spcPts val="2764"/>
              </a:lnSpc>
            </a:pPr>
            <a:r>
              <a:rPr lang="en-US" sz="1974" spc="-5">
                <a:solidFill>
                  <a:srgbClr val="3A58E4"/>
                </a:solidFill>
                <a:latin typeface="Poppins"/>
                <a:ea typeface="Poppins"/>
                <a:cs typeface="Poppins"/>
                <a:sym typeface="Poppins"/>
              </a:rPr>
              <a:t>Female customer revenue contribution</a:t>
            </a:r>
          </a:p>
        </p:txBody>
      </p:sp>
      <p:sp>
        <p:nvSpPr>
          <p:cNvPr name="TextBox 20" id="20"/>
          <p:cNvSpPr txBox="true"/>
          <p:nvPr/>
        </p:nvSpPr>
        <p:spPr>
          <a:xfrm rot="0">
            <a:off x="722135" y="5636277"/>
            <a:ext cx="5116565" cy="2280523"/>
          </a:xfrm>
          <a:prstGeom prst="rect">
            <a:avLst/>
          </a:prstGeom>
        </p:spPr>
        <p:txBody>
          <a:bodyPr anchor="t" rtlCol="false" tIns="0" lIns="0" bIns="0" rIns="0">
            <a:spAutoFit/>
          </a:bodyPr>
          <a:lstStyle/>
          <a:p>
            <a:pPr algn="ctr" marL="0" indent="0" lvl="0">
              <a:lnSpc>
                <a:spcPts val="18676"/>
              </a:lnSpc>
              <a:spcBef>
                <a:spcPct val="0"/>
              </a:spcBef>
            </a:pPr>
            <a:r>
              <a:rPr lang="en-US" sz="13340" spc="-853">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a:ea typeface="Bricolage Grotesque"/>
                <a:cs typeface="Bricolage Grotesque"/>
                <a:sym typeface="Bricolage Grotesque"/>
              </a:rPr>
              <a:t>52%</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525863"/>
            <a:ext cx="47625" cy="2040668"/>
            <a:chOff x="0" y="0"/>
            <a:chExt cx="12543" cy="537460"/>
          </a:xfrm>
        </p:grpSpPr>
        <p:sp>
          <p:nvSpPr>
            <p:cNvPr name="Freeform 3" id="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4" id="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1028700" y="4191922"/>
            <a:ext cx="7514069" cy="854234"/>
          </a:xfrm>
          <a:prstGeom prst="rect">
            <a:avLst/>
          </a:prstGeom>
        </p:spPr>
        <p:txBody>
          <a:bodyPr anchor="t" rtlCol="false" tIns="0" lIns="0" bIns="0" rIns="0">
            <a:spAutoFit/>
          </a:bodyPr>
          <a:lstStyle/>
          <a:p>
            <a:pPr algn="just" marL="0" indent="0" lvl="0">
              <a:lnSpc>
                <a:spcPts val="3316"/>
              </a:lnSpc>
            </a:pPr>
            <a:r>
              <a:rPr lang="en-US" b="true" sz="2368" spc="-59">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IDENTIFYING CUSTOMERS WHO GENERATE HIGHEST REVENUE THROUGH DISCOUNT-DRIVEN PURCHASES</a:t>
            </a:r>
          </a:p>
        </p:txBody>
      </p:sp>
      <p:sp>
        <p:nvSpPr>
          <p:cNvPr name="Freeform 6" id="6"/>
          <p:cNvSpPr/>
          <p:nvPr/>
        </p:nvSpPr>
        <p:spPr>
          <a:xfrm flipH="false" flipV="false" rot="-8687136">
            <a:off x="4577987" y="4654787"/>
            <a:ext cx="189150" cy="228643"/>
          </a:xfrm>
          <a:custGeom>
            <a:avLst/>
            <a:gdLst/>
            <a:ahLst/>
            <a:cxnLst/>
            <a:rect r="r" b="b" t="t" l="l"/>
            <a:pathLst>
              <a:path h="228643" w="189150">
                <a:moveTo>
                  <a:pt x="0" y="0"/>
                </a:moveTo>
                <a:lnTo>
                  <a:pt x="189150" y="0"/>
                </a:lnTo>
                <a:lnTo>
                  <a:pt x="189150" y="228643"/>
                </a:lnTo>
                <a:lnTo>
                  <a:pt x="0" y="2286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692815" y="129"/>
            <a:ext cx="1849954" cy="1848037"/>
            <a:chOff x="0" y="0"/>
            <a:chExt cx="2466605" cy="2464050"/>
          </a:xfrm>
        </p:grpSpPr>
        <p:grpSp>
          <p:nvGrpSpPr>
            <p:cNvPr name="Group 8" id="8"/>
            <p:cNvGrpSpPr/>
            <p:nvPr/>
          </p:nvGrpSpPr>
          <p:grpSpPr>
            <a:xfrm rot="0">
              <a:off x="0" y="0"/>
              <a:ext cx="2466605" cy="2464050"/>
              <a:chOff x="0" y="0"/>
              <a:chExt cx="787566" cy="786750"/>
            </a:xfrm>
          </p:grpSpPr>
          <p:sp>
            <p:nvSpPr>
              <p:cNvPr name="Freeform 9" id="9"/>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0" id="10"/>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1" id="11"/>
            <p:cNvSpPr txBox="true"/>
            <p:nvPr/>
          </p:nvSpPr>
          <p:spPr>
            <a:xfrm rot="0">
              <a:off x="319164" y="694049"/>
              <a:ext cx="1828278" cy="1199777"/>
            </a:xfrm>
            <a:prstGeom prst="rect">
              <a:avLst/>
            </a:prstGeom>
          </p:spPr>
          <p:txBody>
            <a:bodyPr anchor="t" rtlCol="false" tIns="0" lIns="0" bIns="0" rIns="0">
              <a:spAutoFit/>
            </a:bodyPr>
            <a:lstStyle/>
            <a:p>
              <a:pPr algn="ctr" marL="0" indent="0" lvl="0">
                <a:lnSpc>
                  <a:spcPts val="6421"/>
                </a:lnSpc>
              </a:pPr>
              <a:r>
                <a:rPr lang="en-US" sz="6552" spc="-419">
                  <a:solidFill>
                    <a:srgbClr val="FFFFFF"/>
                  </a:solidFill>
                  <a:latin typeface="Bricolage Grotesque"/>
                  <a:ea typeface="Bricolage Grotesque"/>
                  <a:cs typeface="Bricolage Grotesque"/>
                  <a:sym typeface="Bricolage Grotesque"/>
                </a:rPr>
                <a:t>04</a:t>
              </a:r>
            </a:p>
          </p:txBody>
        </p:sp>
      </p:grpSp>
      <p:grpSp>
        <p:nvGrpSpPr>
          <p:cNvPr name="Group 12" id="12"/>
          <p:cNvGrpSpPr/>
          <p:nvPr/>
        </p:nvGrpSpPr>
        <p:grpSpPr>
          <a:xfrm rot="0">
            <a:off x="10630940" y="0"/>
            <a:ext cx="7451928" cy="10287000"/>
            <a:chOff x="0" y="0"/>
            <a:chExt cx="9935904" cy="13716000"/>
          </a:xfrm>
        </p:grpSpPr>
        <p:grpSp>
          <p:nvGrpSpPr>
            <p:cNvPr name="Group 13" id="13"/>
            <p:cNvGrpSpPr/>
            <p:nvPr/>
          </p:nvGrpSpPr>
          <p:grpSpPr>
            <a:xfrm rot="0">
              <a:off x="0" y="0"/>
              <a:ext cx="9634280" cy="13716000"/>
              <a:chOff x="0" y="0"/>
              <a:chExt cx="1119452" cy="1593725"/>
            </a:xfrm>
          </p:grpSpPr>
          <p:sp>
            <p:nvSpPr>
              <p:cNvPr name="Freeform 14" id="14"/>
              <p:cNvSpPr/>
              <p:nvPr/>
            </p:nvSpPr>
            <p:spPr>
              <a:xfrm flipH="false" flipV="false" rot="0">
                <a:off x="0" y="0"/>
                <a:ext cx="1119452" cy="1593725"/>
              </a:xfrm>
              <a:custGeom>
                <a:avLst/>
                <a:gdLst/>
                <a:ahLst/>
                <a:cxnLst/>
                <a:rect r="r" b="b" t="t" l="l"/>
                <a:pathLst>
                  <a:path h="1593725" w="1119452">
                    <a:moveTo>
                      <a:pt x="0" y="0"/>
                    </a:moveTo>
                    <a:lnTo>
                      <a:pt x="1119452" y="0"/>
                    </a:lnTo>
                    <a:lnTo>
                      <a:pt x="1119452" y="1593725"/>
                    </a:lnTo>
                    <a:lnTo>
                      <a:pt x="0" y="1593725"/>
                    </a:lnTo>
                    <a:close/>
                  </a:path>
                </a:pathLst>
              </a:custGeom>
              <a:blipFill>
                <a:blip r:embed="rId4"/>
                <a:stretch>
                  <a:fillRect l="0" t="-2127" r="0" b="-2127"/>
                </a:stretch>
              </a:blipFill>
            </p:spPr>
          </p:sp>
        </p:grpSp>
        <p:sp>
          <p:nvSpPr>
            <p:cNvPr name="AutoShape 15" id="15"/>
            <p:cNvSpPr/>
            <p:nvPr/>
          </p:nvSpPr>
          <p:spPr>
            <a:xfrm>
              <a:off x="9923204" y="0"/>
              <a:ext cx="0" cy="13716000"/>
            </a:xfrm>
            <a:prstGeom prst="line">
              <a:avLst/>
            </a:prstGeom>
            <a:ln cap="rnd" w="25400">
              <a:solidFill>
                <a:srgbClr val="3A58E4"/>
              </a:solidFill>
              <a:prstDash val="solid"/>
              <a:headEnd type="none" len="sm" w="sm"/>
              <a:tailEnd type="none" len="sm" w="sm"/>
            </a:ln>
          </p:spPr>
        </p:sp>
      </p:grpSp>
      <p:sp>
        <p:nvSpPr>
          <p:cNvPr name="TextBox 16" id="16"/>
          <p:cNvSpPr txBox="true"/>
          <p:nvPr/>
        </p:nvSpPr>
        <p:spPr>
          <a:xfrm rot="0">
            <a:off x="1256766" y="1374569"/>
            <a:ext cx="5780387" cy="2521349"/>
          </a:xfrm>
          <a:prstGeom prst="rect">
            <a:avLst/>
          </a:prstGeom>
        </p:spPr>
        <p:txBody>
          <a:bodyPr anchor="t" rtlCol="false" tIns="0" lIns="0" bIns="0" rIns="0">
            <a:spAutoFit/>
          </a:bodyPr>
          <a:lstStyle/>
          <a:p>
            <a:pPr algn="l" marL="0" indent="0" lvl="0">
              <a:lnSpc>
                <a:spcPts val="6580"/>
              </a:lnSpc>
            </a:pPr>
            <a:r>
              <a:rPr lang="en-US" sz="6714" spc="-429">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High-Value Discount Customers</a:t>
            </a:r>
          </a:p>
        </p:txBody>
      </p:sp>
      <p:sp>
        <p:nvSpPr>
          <p:cNvPr name="TextBox 17" id="17"/>
          <p:cNvSpPr txBox="true"/>
          <p:nvPr/>
        </p:nvSpPr>
        <p:spPr>
          <a:xfrm rot="0">
            <a:off x="1028700" y="5532857"/>
            <a:ext cx="7514069" cy="3343114"/>
          </a:xfrm>
          <a:prstGeom prst="rect">
            <a:avLst/>
          </a:prstGeom>
        </p:spPr>
        <p:txBody>
          <a:bodyPr anchor="t" rtlCol="false" tIns="0" lIns="0" bIns="0" rIns="0">
            <a:spAutoFit/>
          </a:bodyPr>
          <a:lstStyle/>
          <a:p>
            <a:pPr algn="just" marL="0" indent="0" lvl="0">
              <a:lnSpc>
                <a:spcPts val="2633"/>
              </a:lnSpc>
            </a:pPr>
            <a:r>
              <a:rPr lang="en-US" sz="1881" spc="-5">
                <a:solidFill>
                  <a:srgbClr val="3A58E4"/>
                </a:solidFill>
                <a:latin typeface="Poppins"/>
                <a:ea typeface="Poppins"/>
                <a:cs typeface="Poppins"/>
                <a:sym typeface="Poppins"/>
              </a:rPr>
              <a:t>Our analysis reveals a significant segment of high-value customers who consistently respond to discount offers. These discount-driven shoppers represent 28% of our customer base but contribute 42% of promotional period revenue. Key characteristics include higher average order values during sales events, strong brand loyalty when offered personalized discounts, and a preference for bundled product deals. Understanding this segment enables targeted marketing strategies that maximize conversion rates while maintaining healthy profit margins through strategic discount allocation.</a:t>
            </a:r>
          </a:p>
        </p:txBody>
      </p:sp>
      <p:sp>
        <p:nvSpPr>
          <p:cNvPr name="Freeform 18" id="18"/>
          <p:cNvSpPr/>
          <p:nvPr/>
        </p:nvSpPr>
        <p:spPr>
          <a:xfrm flipH="false" flipV="false" rot="0">
            <a:off x="9455662" y="7848788"/>
            <a:ext cx="2479908" cy="482455"/>
          </a:xfrm>
          <a:custGeom>
            <a:avLst/>
            <a:gdLst/>
            <a:ahLst/>
            <a:cxnLst/>
            <a:rect r="r" b="b" t="t" l="l"/>
            <a:pathLst>
              <a:path h="482455" w="2479908">
                <a:moveTo>
                  <a:pt x="0" y="0"/>
                </a:moveTo>
                <a:lnTo>
                  <a:pt x="2479908" y="0"/>
                </a:lnTo>
                <a:lnTo>
                  <a:pt x="2479908" y="482455"/>
                </a:lnTo>
                <a:lnTo>
                  <a:pt x="0" y="482455"/>
                </a:lnTo>
                <a:lnTo>
                  <a:pt x="0" y="0"/>
                </a:lnTo>
                <a:close/>
              </a:path>
            </a:pathLst>
          </a:custGeom>
          <a:blipFill>
            <a:blip r:embed="rId5"/>
            <a:stretch>
              <a:fillRect l="0" t="0" r="0" b="0"/>
            </a:stretch>
          </a:blipFill>
        </p:spPr>
      </p:sp>
      <p:grpSp>
        <p:nvGrpSpPr>
          <p:cNvPr name="Group 19" id="19"/>
          <p:cNvGrpSpPr/>
          <p:nvPr/>
        </p:nvGrpSpPr>
        <p:grpSpPr>
          <a:xfrm rot="0">
            <a:off x="9545918" y="5831999"/>
            <a:ext cx="2270445" cy="2267600"/>
            <a:chOff x="0" y="0"/>
            <a:chExt cx="567580" cy="566868"/>
          </a:xfrm>
        </p:grpSpPr>
        <p:sp>
          <p:nvSpPr>
            <p:cNvPr name="Freeform 20" id="20"/>
            <p:cNvSpPr/>
            <p:nvPr/>
          </p:nvSpPr>
          <p:spPr>
            <a:xfrm flipH="false" flipV="false" rot="0">
              <a:off x="0" y="0"/>
              <a:ext cx="567580" cy="566868"/>
            </a:xfrm>
            <a:custGeom>
              <a:avLst/>
              <a:gdLst/>
              <a:ahLst/>
              <a:cxnLst/>
              <a:rect r="r" b="b" t="t" l="l"/>
              <a:pathLst>
                <a:path h="566868" w="567580">
                  <a:moveTo>
                    <a:pt x="153444" y="0"/>
                  </a:moveTo>
                  <a:lnTo>
                    <a:pt x="414136" y="0"/>
                  </a:lnTo>
                  <a:cubicBezTo>
                    <a:pt x="498880" y="0"/>
                    <a:pt x="567580" y="68699"/>
                    <a:pt x="567580" y="153444"/>
                  </a:cubicBezTo>
                  <a:lnTo>
                    <a:pt x="567580" y="413424"/>
                  </a:lnTo>
                  <a:cubicBezTo>
                    <a:pt x="567580" y="454120"/>
                    <a:pt x="551413" y="493149"/>
                    <a:pt x="522637" y="521926"/>
                  </a:cubicBezTo>
                  <a:cubicBezTo>
                    <a:pt x="493861" y="550702"/>
                    <a:pt x="454831" y="566868"/>
                    <a:pt x="414136" y="566868"/>
                  </a:cubicBezTo>
                  <a:lnTo>
                    <a:pt x="153444" y="566868"/>
                  </a:lnTo>
                  <a:cubicBezTo>
                    <a:pt x="112748" y="566868"/>
                    <a:pt x="73719" y="550702"/>
                    <a:pt x="44943" y="521926"/>
                  </a:cubicBezTo>
                  <a:cubicBezTo>
                    <a:pt x="16166" y="493149"/>
                    <a:pt x="0" y="454120"/>
                    <a:pt x="0" y="413424"/>
                  </a:cubicBezTo>
                  <a:lnTo>
                    <a:pt x="0" y="153444"/>
                  </a:lnTo>
                  <a:cubicBezTo>
                    <a:pt x="0" y="112748"/>
                    <a:pt x="16166" y="73719"/>
                    <a:pt x="44943" y="44943"/>
                  </a:cubicBezTo>
                  <a:cubicBezTo>
                    <a:pt x="73719" y="16166"/>
                    <a:pt x="112748" y="0"/>
                    <a:pt x="153444"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rnd">
              <a:noFill/>
              <a:prstDash val="solid"/>
              <a:round/>
            </a:ln>
          </p:spPr>
        </p:sp>
        <p:sp>
          <p:nvSpPr>
            <p:cNvPr name="TextBox 21" id="21"/>
            <p:cNvSpPr txBox="true"/>
            <p:nvPr/>
          </p:nvSpPr>
          <p:spPr>
            <a:xfrm>
              <a:off x="0" y="28575"/>
              <a:ext cx="567580" cy="538293"/>
            </a:xfrm>
            <a:prstGeom prst="rect">
              <a:avLst/>
            </a:prstGeom>
          </p:spPr>
          <p:txBody>
            <a:bodyPr anchor="ctr" rtlCol="false" tIns="51111" lIns="51111" bIns="51111" rIns="51111"/>
            <a:lstStyle/>
            <a:p>
              <a:pPr algn="ctr" marL="0" indent="0" lvl="0">
                <a:lnSpc>
                  <a:spcPts val="2460"/>
                </a:lnSpc>
              </a:pPr>
            </a:p>
          </p:txBody>
        </p:sp>
      </p:grpSp>
      <p:sp>
        <p:nvSpPr>
          <p:cNvPr name="TextBox 22" id="22"/>
          <p:cNvSpPr txBox="true"/>
          <p:nvPr/>
        </p:nvSpPr>
        <p:spPr>
          <a:xfrm rot="0">
            <a:off x="9904370" y="6340300"/>
            <a:ext cx="1582493" cy="516979"/>
          </a:xfrm>
          <a:prstGeom prst="rect">
            <a:avLst/>
          </a:prstGeom>
        </p:spPr>
        <p:txBody>
          <a:bodyPr anchor="t" rtlCol="false" tIns="0" lIns="0" bIns="0" rIns="0">
            <a:spAutoFit/>
          </a:bodyPr>
          <a:lstStyle/>
          <a:p>
            <a:pPr algn="ctr" marL="0" indent="0" lvl="0">
              <a:lnSpc>
                <a:spcPts val="3876"/>
              </a:lnSpc>
            </a:pPr>
            <a:r>
              <a:rPr lang="en-US" b="true" sz="3915" spc="-117">
                <a:solidFill>
                  <a:srgbClr val="FFFFFF"/>
                </a:solidFill>
                <a:latin typeface="Bricolage Grotesque Bold"/>
                <a:ea typeface="Bricolage Grotesque Bold"/>
                <a:cs typeface="Bricolage Grotesque Bold"/>
                <a:sym typeface="Bricolage Grotesque Bold"/>
              </a:rPr>
              <a:t>$847</a:t>
            </a:r>
          </a:p>
        </p:txBody>
      </p:sp>
      <p:sp>
        <p:nvSpPr>
          <p:cNvPr name="TextBox 23" id="23"/>
          <p:cNvSpPr txBox="true"/>
          <p:nvPr/>
        </p:nvSpPr>
        <p:spPr>
          <a:xfrm rot="0">
            <a:off x="10056286" y="6962131"/>
            <a:ext cx="1278661" cy="697426"/>
          </a:xfrm>
          <a:prstGeom prst="rect">
            <a:avLst/>
          </a:prstGeom>
        </p:spPr>
        <p:txBody>
          <a:bodyPr anchor="t" rtlCol="false" tIns="0" lIns="0" bIns="0" rIns="0">
            <a:spAutoFit/>
          </a:bodyPr>
          <a:lstStyle/>
          <a:p>
            <a:pPr algn="ctr" marL="0" indent="0" lvl="0">
              <a:lnSpc>
                <a:spcPts val="1877"/>
              </a:lnSpc>
            </a:pPr>
            <a:r>
              <a:rPr lang="en-US" sz="1341" spc="-33">
                <a:solidFill>
                  <a:srgbClr val="FFFFFF"/>
                </a:solidFill>
                <a:latin typeface="Poppins"/>
                <a:ea typeface="Poppins"/>
                <a:cs typeface="Poppins"/>
                <a:sym typeface="Poppins"/>
              </a:rPr>
              <a:t>AVERAGE SPEND PER DISCOUNT CUSTOMER</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438046" y="187052"/>
            <a:ext cx="1849954" cy="1661115"/>
            <a:chOff x="0" y="0"/>
            <a:chExt cx="2466605" cy="2214820"/>
          </a:xfrm>
        </p:grpSpPr>
        <p:grpSp>
          <p:nvGrpSpPr>
            <p:cNvPr name="Group 3" id="3"/>
            <p:cNvGrpSpPr/>
            <p:nvPr/>
          </p:nvGrpSpPr>
          <p:grpSpPr>
            <a:xfrm rot="0">
              <a:off x="0" y="0"/>
              <a:ext cx="2466605" cy="2214820"/>
              <a:chOff x="0" y="0"/>
              <a:chExt cx="787566" cy="707173"/>
            </a:xfrm>
          </p:grpSpPr>
          <p:sp>
            <p:nvSpPr>
              <p:cNvPr name="Freeform 4" id="4"/>
              <p:cNvSpPr/>
              <p:nvPr/>
            </p:nvSpPr>
            <p:spPr>
              <a:xfrm flipH="false" flipV="false" rot="0">
                <a:off x="0" y="0"/>
                <a:ext cx="787566" cy="707173"/>
              </a:xfrm>
              <a:custGeom>
                <a:avLst/>
                <a:gdLst/>
                <a:ahLst/>
                <a:cxnLst/>
                <a:rect r="r" b="b" t="t" l="l"/>
                <a:pathLst>
                  <a:path h="707173" w="787566">
                    <a:moveTo>
                      <a:pt x="0" y="0"/>
                    </a:moveTo>
                    <a:lnTo>
                      <a:pt x="787566" y="0"/>
                    </a:lnTo>
                    <a:lnTo>
                      <a:pt x="787566" y="707173"/>
                    </a:lnTo>
                    <a:lnTo>
                      <a:pt x="0" y="707173"/>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5" id="5"/>
              <p:cNvSpPr txBox="true"/>
              <p:nvPr/>
            </p:nvSpPr>
            <p:spPr>
              <a:xfrm>
                <a:off x="0" y="-38100"/>
                <a:ext cx="787566" cy="74527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319164" y="674999"/>
              <a:ext cx="1828278" cy="969597"/>
            </a:xfrm>
            <a:prstGeom prst="rect">
              <a:avLst/>
            </a:prstGeom>
          </p:spPr>
          <p:txBody>
            <a:bodyPr anchor="t" rtlCol="false" tIns="0" lIns="0" bIns="0" rIns="0">
              <a:spAutoFit/>
            </a:bodyPr>
            <a:lstStyle/>
            <a:p>
              <a:pPr algn="ctr" marL="0" indent="0" lvl="0">
                <a:lnSpc>
                  <a:spcPts val="5210"/>
                </a:lnSpc>
              </a:pPr>
              <a:r>
                <a:rPr lang="en-US" sz="5316" spc="-340">
                  <a:solidFill>
                    <a:srgbClr val="FFFFFF"/>
                  </a:solidFill>
                  <a:latin typeface="Bricolage Grotesque"/>
                  <a:ea typeface="Bricolage Grotesque"/>
                  <a:cs typeface="Bricolage Grotesque"/>
                  <a:sym typeface="Bricolage Grotesque"/>
                </a:rPr>
                <a:t>05</a:t>
              </a:r>
            </a:p>
          </p:txBody>
        </p:sp>
      </p:grpSp>
      <p:grpSp>
        <p:nvGrpSpPr>
          <p:cNvPr name="Group 7" id="7"/>
          <p:cNvGrpSpPr/>
          <p:nvPr/>
        </p:nvGrpSpPr>
        <p:grpSpPr>
          <a:xfrm rot="0">
            <a:off x="5545788" y="3062727"/>
            <a:ext cx="7196424" cy="379246"/>
            <a:chOff x="0" y="0"/>
            <a:chExt cx="9595232" cy="505662"/>
          </a:xfrm>
        </p:grpSpPr>
        <p:sp>
          <p:nvSpPr>
            <p:cNvPr name="TextBox 8" id="8"/>
            <p:cNvSpPr txBox="true"/>
            <p:nvPr/>
          </p:nvSpPr>
          <p:spPr>
            <a:xfrm rot="0">
              <a:off x="0" y="78630"/>
              <a:ext cx="9378912" cy="427031"/>
            </a:xfrm>
            <a:prstGeom prst="rect">
              <a:avLst/>
            </a:prstGeom>
          </p:spPr>
          <p:txBody>
            <a:bodyPr anchor="t" rtlCol="false" tIns="0" lIns="0" bIns="0" rIns="0">
              <a:spAutoFit/>
            </a:bodyPr>
            <a:lstStyle/>
            <a:p>
              <a:pPr algn="l" marL="0" indent="0" lvl="0">
                <a:lnSpc>
                  <a:spcPts val="2690"/>
                </a:lnSpc>
              </a:pPr>
              <a:r>
                <a:rPr lang="en-US" b="true" sz="1922" spc="-48">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HIGHEST CUSTOMER-RATED PRODUCTS BY AVERAGE RATING</a:t>
              </a:r>
            </a:p>
          </p:txBody>
        </p:sp>
        <p:sp>
          <p:nvSpPr>
            <p:cNvPr name="Freeform 9" id="9"/>
            <p:cNvSpPr/>
            <p:nvPr/>
          </p:nvSpPr>
          <p:spPr>
            <a:xfrm flipH="false" flipV="false" rot="-8687136">
              <a:off x="9278212"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0" id="10"/>
          <p:cNvGrpSpPr/>
          <p:nvPr/>
        </p:nvGrpSpPr>
        <p:grpSpPr>
          <a:xfrm rot="0">
            <a:off x="1463921" y="4926041"/>
            <a:ext cx="3746706" cy="374670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12" id="12"/>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3" id="13"/>
          <p:cNvGrpSpPr/>
          <p:nvPr/>
        </p:nvGrpSpPr>
        <p:grpSpPr>
          <a:xfrm rot="0">
            <a:off x="5334452" y="4926041"/>
            <a:ext cx="3746706" cy="374670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a:ln cap="sq">
              <a:noFill/>
              <a:prstDash val="solid"/>
              <a:miter/>
            </a:ln>
          </p:spPr>
        </p:sp>
        <p:sp>
          <p:nvSpPr>
            <p:cNvPr name="TextBox 15" id="15"/>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6" id="16"/>
          <p:cNvGrpSpPr/>
          <p:nvPr/>
        </p:nvGrpSpPr>
        <p:grpSpPr>
          <a:xfrm rot="0">
            <a:off x="9205912" y="4926041"/>
            <a:ext cx="3746706" cy="374670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18" id="18"/>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9" id="19"/>
          <p:cNvGrpSpPr/>
          <p:nvPr/>
        </p:nvGrpSpPr>
        <p:grpSpPr>
          <a:xfrm rot="0">
            <a:off x="13077373" y="4926041"/>
            <a:ext cx="3746706" cy="374670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21" id="21"/>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sp>
        <p:nvSpPr>
          <p:cNvPr name="TextBox 22" id="22"/>
          <p:cNvSpPr txBox="true"/>
          <p:nvPr/>
        </p:nvSpPr>
        <p:spPr>
          <a:xfrm rot="0">
            <a:off x="2345222" y="5973903"/>
            <a:ext cx="1984104" cy="586088"/>
          </a:xfrm>
          <a:prstGeom prst="rect">
            <a:avLst/>
          </a:prstGeom>
        </p:spPr>
        <p:txBody>
          <a:bodyPr anchor="t" rtlCol="false" tIns="0" lIns="0" bIns="0" rIns="0">
            <a:spAutoFit/>
          </a:bodyPr>
          <a:lstStyle/>
          <a:p>
            <a:pPr algn="ctr" marL="0" indent="0" lvl="0">
              <a:lnSpc>
                <a:spcPts val="2349"/>
              </a:lnSpc>
            </a:pPr>
            <a:r>
              <a:rPr lang="en-US" b="true" sz="1821" spc="-5">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PREMIUM JACKET</a:t>
            </a:r>
          </a:p>
        </p:txBody>
      </p:sp>
      <p:sp>
        <p:nvSpPr>
          <p:cNvPr name="TextBox 23" id="23"/>
          <p:cNvSpPr txBox="true"/>
          <p:nvPr/>
        </p:nvSpPr>
        <p:spPr>
          <a:xfrm rot="0">
            <a:off x="2124549" y="6770805"/>
            <a:ext cx="2425450" cy="837523"/>
          </a:xfrm>
          <a:prstGeom prst="rect">
            <a:avLst/>
          </a:prstGeom>
        </p:spPr>
        <p:txBody>
          <a:bodyPr anchor="t" rtlCol="false" tIns="0" lIns="0" bIns="0" rIns="0">
            <a:spAutoFit/>
          </a:bodyPr>
          <a:lstStyle/>
          <a:p>
            <a:pPr algn="ctr" marL="0" indent="0" lvl="0">
              <a:lnSpc>
                <a:spcPts val="2226"/>
              </a:lnSpc>
            </a:pPr>
            <a:r>
              <a:rPr lang="en-US" sz="1725" spc="-5">
                <a:solidFill>
                  <a:srgbClr val="3A58E4"/>
                </a:solidFill>
                <a:latin typeface="Poppins"/>
                <a:ea typeface="Poppins"/>
                <a:cs typeface="Poppins"/>
                <a:sym typeface="Poppins"/>
              </a:rPr>
              <a:t>4.9★ average rating with 847 verified customer reviews</a:t>
            </a:r>
          </a:p>
        </p:txBody>
      </p:sp>
      <p:sp>
        <p:nvSpPr>
          <p:cNvPr name="TextBox 24" id="24"/>
          <p:cNvSpPr txBox="true"/>
          <p:nvPr/>
        </p:nvSpPr>
        <p:spPr>
          <a:xfrm rot="0">
            <a:off x="6215753" y="5973903"/>
            <a:ext cx="1984104" cy="586088"/>
          </a:xfrm>
          <a:prstGeom prst="rect">
            <a:avLst/>
          </a:prstGeom>
        </p:spPr>
        <p:txBody>
          <a:bodyPr anchor="t" rtlCol="false" tIns="0" lIns="0" bIns="0" rIns="0">
            <a:spAutoFit/>
          </a:bodyPr>
          <a:lstStyle/>
          <a:p>
            <a:pPr algn="ctr" marL="0" indent="0" lvl="0">
              <a:lnSpc>
                <a:spcPts val="2349"/>
              </a:lnSpc>
            </a:pPr>
            <a:r>
              <a:rPr lang="en-US" b="true" sz="1821" spc="-5">
                <a:solidFill>
                  <a:srgbClr val="FFFFFF"/>
                </a:solidFill>
                <a:latin typeface="Poppins Bold"/>
                <a:ea typeface="Poppins Bold"/>
                <a:cs typeface="Poppins Bold"/>
                <a:sym typeface="Poppins Bold"/>
              </a:rPr>
              <a:t>CLASSIC SNEAKERS</a:t>
            </a:r>
          </a:p>
        </p:txBody>
      </p:sp>
      <p:sp>
        <p:nvSpPr>
          <p:cNvPr name="TextBox 25" id="25"/>
          <p:cNvSpPr txBox="true"/>
          <p:nvPr/>
        </p:nvSpPr>
        <p:spPr>
          <a:xfrm rot="0">
            <a:off x="5995080" y="6770805"/>
            <a:ext cx="2425450" cy="837523"/>
          </a:xfrm>
          <a:prstGeom prst="rect">
            <a:avLst/>
          </a:prstGeom>
        </p:spPr>
        <p:txBody>
          <a:bodyPr anchor="t" rtlCol="false" tIns="0" lIns="0" bIns="0" rIns="0">
            <a:spAutoFit/>
          </a:bodyPr>
          <a:lstStyle/>
          <a:p>
            <a:pPr algn="ctr" marL="0" indent="0" lvl="0">
              <a:lnSpc>
                <a:spcPts val="2226"/>
              </a:lnSpc>
            </a:pPr>
            <a:r>
              <a:rPr lang="en-US" sz="1725" spc="-5">
                <a:solidFill>
                  <a:srgbClr val="FFFFFF"/>
                </a:solidFill>
                <a:latin typeface="Poppins"/>
                <a:ea typeface="Poppins"/>
                <a:cs typeface="Poppins"/>
                <a:sym typeface="Poppins"/>
              </a:rPr>
              <a:t>4.8★ average rating with 1,203 verified customer reviews</a:t>
            </a:r>
          </a:p>
        </p:txBody>
      </p:sp>
      <p:sp>
        <p:nvSpPr>
          <p:cNvPr name="TextBox 26" id="26"/>
          <p:cNvSpPr txBox="true"/>
          <p:nvPr/>
        </p:nvSpPr>
        <p:spPr>
          <a:xfrm rot="0">
            <a:off x="9901910" y="6263070"/>
            <a:ext cx="2354710" cy="296922"/>
          </a:xfrm>
          <a:prstGeom prst="rect">
            <a:avLst/>
          </a:prstGeom>
        </p:spPr>
        <p:txBody>
          <a:bodyPr anchor="t" rtlCol="false" tIns="0" lIns="0" bIns="0" rIns="0">
            <a:spAutoFit/>
          </a:bodyPr>
          <a:lstStyle/>
          <a:p>
            <a:pPr algn="ctr" marL="0" indent="0" lvl="0">
              <a:lnSpc>
                <a:spcPts val="2349"/>
              </a:lnSpc>
            </a:pPr>
            <a:r>
              <a:rPr lang="en-US" b="true" sz="1821" spc="-5">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DESIGNER HANDBAG</a:t>
            </a:r>
          </a:p>
        </p:txBody>
      </p:sp>
      <p:sp>
        <p:nvSpPr>
          <p:cNvPr name="TextBox 27" id="27"/>
          <p:cNvSpPr txBox="true"/>
          <p:nvPr/>
        </p:nvSpPr>
        <p:spPr>
          <a:xfrm rot="0">
            <a:off x="9866540" y="6770805"/>
            <a:ext cx="2425450" cy="837523"/>
          </a:xfrm>
          <a:prstGeom prst="rect">
            <a:avLst/>
          </a:prstGeom>
        </p:spPr>
        <p:txBody>
          <a:bodyPr anchor="t" rtlCol="false" tIns="0" lIns="0" bIns="0" rIns="0">
            <a:spAutoFit/>
          </a:bodyPr>
          <a:lstStyle/>
          <a:p>
            <a:pPr algn="ctr" marL="0" indent="0" lvl="0">
              <a:lnSpc>
                <a:spcPts val="2226"/>
              </a:lnSpc>
            </a:pPr>
            <a:r>
              <a:rPr lang="en-US" sz="1725" spc="-5">
                <a:solidFill>
                  <a:srgbClr val="3A58E4"/>
                </a:solidFill>
                <a:latin typeface="Poppins"/>
                <a:ea typeface="Poppins"/>
                <a:cs typeface="Poppins"/>
                <a:sym typeface="Poppins"/>
              </a:rPr>
              <a:t>4.7★ average rating with 562 verified customer reviews</a:t>
            </a:r>
          </a:p>
        </p:txBody>
      </p:sp>
      <p:sp>
        <p:nvSpPr>
          <p:cNvPr name="TextBox 28" id="28"/>
          <p:cNvSpPr txBox="true"/>
          <p:nvPr/>
        </p:nvSpPr>
        <p:spPr>
          <a:xfrm rot="0">
            <a:off x="13958674" y="6263070"/>
            <a:ext cx="1984104" cy="296922"/>
          </a:xfrm>
          <a:prstGeom prst="rect">
            <a:avLst/>
          </a:prstGeom>
        </p:spPr>
        <p:txBody>
          <a:bodyPr anchor="t" rtlCol="false" tIns="0" lIns="0" bIns="0" rIns="0">
            <a:spAutoFit/>
          </a:bodyPr>
          <a:lstStyle/>
          <a:p>
            <a:pPr algn="ctr" marL="0" indent="0" lvl="0">
              <a:lnSpc>
                <a:spcPts val="2349"/>
              </a:lnSpc>
            </a:pPr>
            <a:r>
              <a:rPr lang="en-US" b="true" sz="1821" spc="-5">
                <a:solidFill>
                  <a:srgbClr val="FFFFFF"/>
                </a:solidFill>
                <a:latin typeface="Poppins Bold"/>
                <a:ea typeface="Poppins Bold"/>
                <a:cs typeface="Poppins Bold"/>
                <a:sym typeface="Poppins Bold"/>
              </a:rPr>
              <a:t>WOOL SWEATER</a:t>
            </a:r>
          </a:p>
        </p:txBody>
      </p:sp>
      <p:sp>
        <p:nvSpPr>
          <p:cNvPr name="TextBox 29" id="29"/>
          <p:cNvSpPr txBox="true"/>
          <p:nvPr/>
        </p:nvSpPr>
        <p:spPr>
          <a:xfrm rot="0">
            <a:off x="13738001" y="6770805"/>
            <a:ext cx="2425450" cy="837523"/>
          </a:xfrm>
          <a:prstGeom prst="rect">
            <a:avLst/>
          </a:prstGeom>
        </p:spPr>
        <p:txBody>
          <a:bodyPr anchor="t" rtlCol="false" tIns="0" lIns="0" bIns="0" rIns="0">
            <a:spAutoFit/>
          </a:bodyPr>
          <a:lstStyle/>
          <a:p>
            <a:pPr algn="ctr" marL="0" indent="0" lvl="0">
              <a:lnSpc>
                <a:spcPts val="2226"/>
              </a:lnSpc>
            </a:pPr>
            <a:r>
              <a:rPr lang="en-US" sz="1725" spc="-5">
                <a:solidFill>
                  <a:srgbClr val="FFFFFF"/>
                </a:solidFill>
                <a:latin typeface="Poppins"/>
                <a:ea typeface="Poppins"/>
                <a:cs typeface="Poppins"/>
                <a:sym typeface="Poppins"/>
              </a:rPr>
              <a:t>4.6★ average rating with 428 verified customer reviews</a:t>
            </a:r>
          </a:p>
        </p:txBody>
      </p:sp>
      <p:grpSp>
        <p:nvGrpSpPr>
          <p:cNvPr name="Group 30" id="30"/>
          <p:cNvGrpSpPr/>
          <p:nvPr/>
        </p:nvGrpSpPr>
        <p:grpSpPr>
          <a:xfrm rot="0">
            <a:off x="4176506" y="4987901"/>
            <a:ext cx="746986" cy="685125"/>
            <a:chOff x="0" y="0"/>
            <a:chExt cx="995981" cy="913501"/>
          </a:xfrm>
        </p:grpSpPr>
        <p:grpSp>
          <p:nvGrpSpPr>
            <p:cNvPr name="Group 31" id="31"/>
            <p:cNvGrpSpPr/>
            <p:nvPr/>
          </p:nvGrpSpPr>
          <p:grpSpPr>
            <a:xfrm rot="0">
              <a:off x="0" y="0"/>
              <a:ext cx="995981" cy="913501"/>
              <a:chOff x="0" y="0"/>
              <a:chExt cx="812800" cy="745489"/>
            </a:xfrm>
          </p:grpSpPr>
          <p:sp>
            <p:nvSpPr>
              <p:cNvPr name="Freeform 32" id="32"/>
              <p:cNvSpPr/>
              <p:nvPr/>
            </p:nvSpPr>
            <p:spPr>
              <a:xfrm flipH="false" flipV="false" rot="0">
                <a:off x="0" y="0"/>
                <a:ext cx="812800" cy="745489"/>
              </a:xfrm>
              <a:custGeom>
                <a:avLst/>
                <a:gdLst/>
                <a:ahLst/>
                <a:cxnLst/>
                <a:rect r="r" b="b" t="t" l="l"/>
                <a:pathLst>
                  <a:path h="745489" w="812800">
                    <a:moveTo>
                      <a:pt x="406400" y="0"/>
                    </a:moveTo>
                    <a:cubicBezTo>
                      <a:pt x="181951" y="0"/>
                      <a:pt x="0" y="166884"/>
                      <a:pt x="0" y="372745"/>
                    </a:cubicBezTo>
                    <a:cubicBezTo>
                      <a:pt x="0" y="578606"/>
                      <a:pt x="181951" y="745489"/>
                      <a:pt x="406400" y="745489"/>
                    </a:cubicBezTo>
                    <a:cubicBezTo>
                      <a:pt x="630849" y="745489"/>
                      <a:pt x="812800" y="578606"/>
                      <a:pt x="812800" y="372745"/>
                    </a:cubicBezTo>
                    <a:cubicBezTo>
                      <a:pt x="812800" y="166884"/>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33" id="33"/>
              <p:cNvSpPr txBox="true"/>
              <p:nvPr/>
            </p:nvSpPr>
            <p:spPr>
              <a:xfrm>
                <a:off x="76200" y="31790"/>
                <a:ext cx="660400" cy="643810"/>
              </a:xfrm>
              <a:prstGeom prst="rect">
                <a:avLst/>
              </a:prstGeom>
            </p:spPr>
            <p:txBody>
              <a:bodyPr anchor="ctr" rtlCol="false" tIns="50800" lIns="50800" bIns="50800" rIns="50800"/>
              <a:lstStyle/>
              <a:p>
                <a:pPr algn="ctr" marL="0" indent="0" lvl="0">
                  <a:lnSpc>
                    <a:spcPts val="2659"/>
                  </a:lnSpc>
                </a:pPr>
              </a:p>
            </p:txBody>
          </p:sp>
        </p:grpSp>
        <p:sp>
          <p:nvSpPr>
            <p:cNvPr name="TextBox 34" id="34"/>
            <p:cNvSpPr txBox="true"/>
            <p:nvPr/>
          </p:nvSpPr>
          <p:spPr>
            <a:xfrm rot="0">
              <a:off x="175623" y="235561"/>
              <a:ext cx="644736" cy="404279"/>
            </a:xfrm>
            <a:prstGeom prst="rect">
              <a:avLst/>
            </a:prstGeom>
          </p:spPr>
          <p:txBody>
            <a:bodyPr anchor="t" rtlCol="false" tIns="0" lIns="0" bIns="0" rIns="0">
              <a:spAutoFit/>
            </a:bodyPr>
            <a:lstStyle/>
            <a:p>
              <a:pPr algn="ctr" marL="0" indent="0" lvl="0">
                <a:lnSpc>
                  <a:spcPts val="2329"/>
                </a:lnSpc>
              </a:pPr>
              <a:r>
                <a:rPr lang="en-US" sz="1805" spc="-5">
                  <a:solidFill>
                    <a:srgbClr val="FFFFFF"/>
                  </a:solidFill>
                  <a:latin typeface="Poppins"/>
                  <a:ea typeface="Poppins"/>
                  <a:cs typeface="Poppins"/>
                  <a:sym typeface="Poppins"/>
                </a:rPr>
                <a:t>01</a:t>
              </a:r>
            </a:p>
          </p:txBody>
        </p:sp>
      </p:grpSp>
      <p:grpSp>
        <p:nvGrpSpPr>
          <p:cNvPr name="Group 35" id="35"/>
          <p:cNvGrpSpPr/>
          <p:nvPr/>
        </p:nvGrpSpPr>
        <p:grpSpPr>
          <a:xfrm rot="0">
            <a:off x="8047037" y="4987901"/>
            <a:ext cx="746986" cy="685125"/>
            <a:chOff x="0" y="0"/>
            <a:chExt cx="995981" cy="913501"/>
          </a:xfrm>
        </p:grpSpPr>
        <p:grpSp>
          <p:nvGrpSpPr>
            <p:cNvPr name="Group 36" id="36"/>
            <p:cNvGrpSpPr/>
            <p:nvPr/>
          </p:nvGrpSpPr>
          <p:grpSpPr>
            <a:xfrm rot="0">
              <a:off x="0" y="0"/>
              <a:ext cx="995981" cy="913501"/>
              <a:chOff x="0" y="0"/>
              <a:chExt cx="812800" cy="745489"/>
            </a:xfrm>
          </p:grpSpPr>
          <p:sp>
            <p:nvSpPr>
              <p:cNvPr name="Freeform 37" id="37"/>
              <p:cNvSpPr/>
              <p:nvPr/>
            </p:nvSpPr>
            <p:spPr>
              <a:xfrm flipH="false" flipV="false" rot="0">
                <a:off x="0" y="0"/>
                <a:ext cx="812800" cy="745489"/>
              </a:xfrm>
              <a:custGeom>
                <a:avLst/>
                <a:gdLst/>
                <a:ahLst/>
                <a:cxnLst/>
                <a:rect r="r" b="b" t="t" l="l"/>
                <a:pathLst>
                  <a:path h="745489" w="812800">
                    <a:moveTo>
                      <a:pt x="406400" y="0"/>
                    </a:moveTo>
                    <a:cubicBezTo>
                      <a:pt x="181951" y="0"/>
                      <a:pt x="0" y="166884"/>
                      <a:pt x="0" y="372745"/>
                    </a:cubicBezTo>
                    <a:cubicBezTo>
                      <a:pt x="0" y="578606"/>
                      <a:pt x="181951" y="745489"/>
                      <a:pt x="406400" y="745489"/>
                    </a:cubicBezTo>
                    <a:cubicBezTo>
                      <a:pt x="630849" y="745489"/>
                      <a:pt x="812800" y="578606"/>
                      <a:pt x="812800" y="372745"/>
                    </a:cubicBezTo>
                    <a:cubicBezTo>
                      <a:pt x="812800" y="166884"/>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38" id="38"/>
              <p:cNvSpPr txBox="true"/>
              <p:nvPr/>
            </p:nvSpPr>
            <p:spPr>
              <a:xfrm>
                <a:off x="76200" y="31790"/>
                <a:ext cx="660400" cy="643810"/>
              </a:xfrm>
              <a:prstGeom prst="rect">
                <a:avLst/>
              </a:prstGeom>
            </p:spPr>
            <p:txBody>
              <a:bodyPr anchor="ctr" rtlCol="false" tIns="50800" lIns="50800" bIns="50800" rIns="50800"/>
              <a:lstStyle/>
              <a:p>
                <a:pPr algn="ctr" marL="0" indent="0" lvl="0">
                  <a:lnSpc>
                    <a:spcPts val="2659"/>
                  </a:lnSpc>
                </a:pPr>
              </a:p>
            </p:txBody>
          </p:sp>
        </p:grpSp>
        <p:sp>
          <p:nvSpPr>
            <p:cNvPr name="TextBox 39" id="39"/>
            <p:cNvSpPr txBox="true"/>
            <p:nvPr/>
          </p:nvSpPr>
          <p:spPr>
            <a:xfrm rot="0">
              <a:off x="175623" y="235561"/>
              <a:ext cx="644736" cy="404279"/>
            </a:xfrm>
            <a:prstGeom prst="rect">
              <a:avLst/>
            </a:prstGeom>
          </p:spPr>
          <p:txBody>
            <a:bodyPr anchor="t" rtlCol="false" tIns="0" lIns="0" bIns="0" rIns="0">
              <a:spAutoFit/>
            </a:bodyPr>
            <a:lstStyle/>
            <a:p>
              <a:pPr algn="ctr" marL="0" indent="0" lvl="0">
                <a:lnSpc>
                  <a:spcPts val="2329"/>
                </a:lnSpc>
              </a:pPr>
              <a:r>
                <a:rPr lang="en-US" sz="1805" spc="-5">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02</a:t>
              </a:r>
            </a:p>
          </p:txBody>
        </p:sp>
      </p:grpSp>
      <p:grpSp>
        <p:nvGrpSpPr>
          <p:cNvPr name="Group 40" id="40"/>
          <p:cNvGrpSpPr/>
          <p:nvPr/>
        </p:nvGrpSpPr>
        <p:grpSpPr>
          <a:xfrm rot="0">
            <a:off x="11919608" y="4987901"/>
            <a:ext cx="746986" cy="685125"/>
            <a:chOff x="0" y="0"/>
            <a:chExt cx="995981" cy="913501"/>
          </a:xfrm>
        </p:grpSpPr>
        <p:grpSp>
          <p:nvGrpSpPr>
            <p:cNvPr name="Group 41" id="41"/>
            <p:cNvGrpSpPr/>
            <p:nvPr/>
          </p:nvGrpSpPr>
          <p:grpSpPr>
            <a:xfrm rot="0">
              <a:off x="0" y="0"/>
              <a:ext cx="995981" cy="913501"/>
              <a:chOff x="0" y="0"/>
              <a:chExt cx="812800" cy="745489"/>
            </a:xfrm>
          </p:grpSpPr>
          <p:sp>
            <p:nvSpPr>
              <p:cNvPr name="Freeform 42" id="42"/>
              <p:cNvSpPr/>
              <p:nvPr/>
            </p:nvSpPr>
            <p:spPr>
              <a:xfrm flipH="false" flipV="false" rot="0">
                <a:off x="0" y="0"/>
                <a:ext cx="812800" cy="745489"/>
              </a:xfrm>
              <a:custGeom>
                <a:avLst/>
                <a:gdLst/>
                <a:ahLst/>
                <a:cxnLst/>
                <a:rect r="r" b="b" t="t" l="l"/>
                <a:pathLst>
                  <a:path h="745489" w="812800">
                    <a:moveTo>
                      <a:pt x="406400" y="0"/>
                    </a:moveTo>
                    <a:cubicBezTo>
                      <a:pt x="181951" y="0"/>
                      <a:pt x="0" y="166884"/>
                      <a:pt x="0" y="372745"/>
                    </a:cubicBezTo>
                    <a:cubicBezTo>
                      <a:pt x="0" y="578606"/>
                      <a:pt x="181951" y="745489"/>
                      <a:pt x="406400" y="745489"/>
                    </a:cubicBezTo>
                    <a:cubicBezTo>
                      <a:pt x="630849" y="745489"/>
                      <a:pt x="812800" y="578606"/>
                      <a:pt x="812800" y="372745"/>
                    </a:cubicBezTo>
                    <a:cubicBezTo>
                      <a:pt x="812800" y="166884"/>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43" id="43"/>
              <p:cNvSpPr txBox="true"/>
              <p:nvPr/>
            </p:nvSpPr>
            <p:spPr>
              <a:xfrm>
                <a:off x="76200" y="31790"/>
                <a:ext cx="660400" cy="643810"/>
              </a:xfrm>
              <a:prstGeom prst="rect">
                <a:avLst/>
              </a:prstGeom>
            </p:spPr>
            <p:txBody>
              <a:bodyPr anchor="ctr" rtlCol="false" tIns="50800" lIns="50800" bIns="50800" rIns="50800"/>
              <a:lstStyle/>
              <a:p>
                <a:pPr algn="ctr" marL="0" indent="0" lvl="0">
                  <a:lnSpc>
                    <a:spcPts val="2659"/>
                  </a:lnSpc>
                </a:pPr>
              </a:p>
            </p:txBody>
          </p:sp>
        </p:grpSp>
        <p:sp>
          <p:nvSpPr>
            <p:cNvPr name="TextBox 44" id="44"/>
            <p:cNvSpPr txBox="true"/>
            <p:nvPr/>
          </p:nvSpPr>
          <p:spPr>
            <a:xfrm rot="0">
              <a:off x="175623" y="235561"/>
              <a:ext cx="644736" cy="404279"/>
            </a:xfrm>
            <a:prstGeom prst="rect">
              <a:avLst/>
            </a:prstGeom>
          </p:spPr>
          <p:txBody>
            <a:bodyPr anchor="t" rtlCol="false" tIns="0" lIns="0" bIns="0" rIns="0">
              <a:spAutoFit/>
            </a:bodyPr>
            <a:lstStyle/>
            <a:p>
              <a:pPr algn="ctr" marL="0" indent="0" lvl="0">
                <a:lnSpc>
                  <a:spcPts val="2329"/>
                </a:lnSpc>
              </a:pPr>
              <a:r>
                <a:rPr lang="en-US" sz="1805" spc="-5">
                  <a:solidFill>
                    <a:srgbClr val="FFFFFF"/>
                  </a:solidFill>
                  <a:latin typeface="Poppins"/>
                  <a:ea typeface="Poppins"/>
                  <a:cs typeface="Poppins"/>
                  <a:sym typeface="Poppins"/>
                </a:rPr>
                <a:t>03</a:t>
              </a:r>
            </a:p>
          </p:txBody>
        </p:sp>
      </p:grpSp>
      <p:grpSp>
        <p:nvGrpSpPr>
          <p:cNvPr name="Group 45" id="45"/>
          <p:cNvGrpSpPr/>
          <p:nvPr/>
        </p:nvGrpSpPr>
        <p:grpSpPr>
          <a:xfrm rot="0">
            <a:off x="15791068" y="4987901"/>
            <a:ext cx="746986" cy="685125"/>
            <a:chOff x="0" y="0"/>
            <a:chExt cx="995981" cy="913501"/>
          </a:xfrm>
        </p:grpSpPr>
        <p:grpSp>
          <p:nvGrpSpPr>
            <p:cNvPr name="Group 46" id="46"/>
            <p:cNvGrpSpPr/>
            <p:nvPr/>
          </p:nvGrpSpPr>
          <p:grpSpPr>
            <a:xfrm rot="0">
              <a:off x="0" y="0"/>
              <a:ext cx="995981" cy="913501"/>
              <a:chOff x="0" y="0"/>
              <a:chExt cx="812800" cy="745489"/>
            </a:xfrm>
          </p:grpSpPr>
          <p:sp>
            <p:nvSpPr>
              <p:cNvPr name="Freeform 47" id="47"/>
              <p:cNvSpPr/>
              <p:nvPr/>
            </p:nvSpPr>
            <p:spPr>
              <a:xfrm flipH="false" flipV="false" rot="0">
                <a:off x="0" y="0"/>
                <a:ext cx="812800" cy="745489"/>
              </a:xfrm>
              <a:custGeom>
                <a:avLst/>
                <a:gdLst/>
                <a:ahLst/>
                <a:cxnLst/>
                <a:rect r="r" b="b" t="t" l="l"/>
                <a:pathLst>
                  <a:path h="745489" w="812800">
                    <a:moveTo>
                      <a:pt x="406400" y="0"/>
                    </a:moveTo>
                    <a:cubicBezTo>
                      <a:pt x="181951" y="0"/>
                      <a:pt x="0" y="166884"/>
                      <a:pt x="0" y="372745"/>
                    </a:cubicBezTo>
                    <a:cubicBezTo>
                      <a:pt x="0" y="578606"/>
                      <a:pt x="181951" y="745489"/>
                      <a:pt x="406400" y="745489"/>
                    </a:cubicBezTo>
                    <a:cubicBezTo>
                      <a:pt x="630849" y="745489"/>
                      <a:pt x="812800" y="578606"/>
                      <a:pt x="812800" y="372745"/>
                    </a:cubicBezTo>
                    <a:cubicBezTo>
                      <a:pt x="812800" y="166884"/>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48" id="48"/>
              <p:cNvSpPr txBox="true"/>
              <p:nvPr/>
            </p:nvSpPr>
            <p:spPr>
              <a:xfrm>
                <a:off x="76200" y="31790"/>
                <a:ext cx="660400" cy="643810"/>
              </a:xfrm>
              <a:prstGeom prst="rect">
                <a:avLst/>
              </a:prstGeom>
            </p:spPr>
            <p:txBody>
              <a:bodyPr anchor="ctr" rtlCol="false" tIns="50800" lIns="50800" bIns="50800" rIns="50800"/>
              <a:lstStyle/>
              <a:p>
                <a:pPr algn="ctr" marL="0" indent="0" lvl="0">
                  <a:lnSpc>
                    <a:spcPts val="2659"/>
                  </a:lnSpc>
                </a:pPr>
              </a:p>
            </p:txBody>
          </p:sp>
        </p:grpSp>
        <p:sp>
          <p:nvSpPr>
            <p:cNvPr name="TextBox 49" id="49"/>
            <p:cNvSpPr txBox="true"/>
            <p:nvPr/>
          </p:nvSpPr>
          <p:spPr>
            <a:xfrm rot="0">
              <a:off x="175623" y="235561"/>
              <a:ext cx="644736" cy="404279"/>
            </a:xfrm>
            <a:prstGeom prst="rect">
              <a:avLst/>
            </a:prstGeom>
          </p:spPr>
          <p:txBody>
            <a:bodyPr anchor="t" rtlCol="false" tIns="0" lIns="0" bIns="0" rIns="0">
              <a:spAutoFit/>
            </a:bodyPr>
            <a:lstStyle/>
            <a:p>
              <a:pPr algn="ctr" marL="0" indent="0" lvl="0">
                <a:lnSpc>
                  <a:spcPts val="2329"/>
                </a:lnSpc>
              </a:pPr>
              <a:r>
                <a:rPr lang="en-US" sz="1805" spc="-5">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04</a:t>
              </a:r>
            </a:p>
          </p:txBody>
        </p:sp>
      </p:grpSp>
      <p:sp>
        <p:nvSpPr>
          <p:cNvPr name="TextBox 50" id="50"/>
          <p:cNvSpPr txBox="true"/>
          <p:nvPr/>
        </p:nvSpPr>
        <p:spPr>
          <a:xfrm rot="0">
            <a:off x="3363658" y="1531339"/>
            <a:ext cx="11560683" cy="1273720"/>
          </a:xfrm>
          <a:prstGeom prst="rect">
            <a:avLst/>
          </a:prstGeom>
        </p:spPr>
        <p:txBody>
          <a:bodyPr anchor="t" rtlCol="false" tIns="0" lIns="0" bIns="0" rIns="0">
            <a:spAutoFit/>
          </a:bodyPr>
          <a:lstStyle/>
          <a:p>
            <a:pPr algn="ctr" marL="0" indent="0" lvl="0">
              <a:lnSpc>
                <a:spcPts val="9596"/>
              </a:lnSpc>
            </a:pPr>
            <a:r>
              <a:rPr lang="en-US" sz="9792" spc="-626">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Top-Rated Products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1311" y="0"/>
            <a:ext cx="546689" cy="7173190"/>
            <a:chOff x="0" y="0"/>
            <a:chExt cx="143984" cy="1889235"/>
          </a:xfrm>
        </p:grpSpPr>
        <p:sp>
          <p:nvSpPr>
            <p:cNvPr name="Freeform 3" id="3"/>
            <p:cNvSpPr/>
            <p:nvPr/>
          </p:nvSpPr>
          <p:spPr>
            <a:xfrm flipH="false" flipV="false" rot="0">
              <a:off x="0" y="0"/>
              <a:ext cx="143984" cy="1889235"/>
            </a:xfrm>
            <a:custGeom>
              <a:avLst/>
              <a:gdLst/>
              <a:ahLst/>
              <a:cxnLst/>
              <a:rect r="r" b="b" t="t" l="l"/>
              <a:pathLst>
                <a:path h="1889235" w="143984">
                  <a:moveTo>
                    <a:pt x="0" y="0"/>
                  </a:moveTo>
                  <a:lnTo>
                    <a:pt x="143984" y="0"/>
                  </a:lnTo>
                  <a:lnTo>
                    <a:pt x="143984" y="1889235"/>
                  </a:lnTo>
                  <a:lnTo>
                    <a:pt x="0" y="1889235"/>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4" id="4"/>
            <p:cNvSpPr txBox="true"/>
            <p:nvPr/>
          </p:nvSpPr>
          <p:spPr>
            <a:xfrm>
              <a:off x="0" y="-38100"/>
              <a:ext cx="143984" cy="192733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5" id="5"/>
          <p:cNvSpPr/>
          <p:nvPr/>
        </p:nvSpPr>
        <p:spPr>
          <a:xfrm flipH="true">
            <a:off x="4442685" y="0"/>
            <a:ext cx="0" cy="10287000"/>
          </a:xfrm>
          <a:prstGeom prst="line">
            <a:avLst/>
          </a:prstGeom>
          <a:ln cap="rnd" w="19050">
            <a:solidFill>
              <a:srgbClr val="3A58E4"/>
            </a:solidFill>
            <a:prstDash val="solid"/>
            <a:headEnd type="none" len="sm" w="sm"/>
            <a:tailEnd type="none" len="sm" w="sm"/>
          </a:ln>
        </p:spPr>
      </p:sp>
      <p:sp>
        <p:nvSpPr>
          <p:cNvPr name="AutoShape 6" id="6"/>
          <p:cNvSpPr/>
          <p:nvPr/>
        </p:nvSpPr>
        <p:spPr>
          <a:xfrm>
            <a:off x="8872264" y="0"/>
            <a:ext cx="0" cy="7163665"/>
          </a:xfrm>
          <a:prstGeom prst="line">
            <a:avLst/>
          </a:prstGeom>
          <a:ln cap="rnd" w="19050">
            <a:solidFill>
              <a:srgbClr val="3A58E4"/>
            </a:solidFill>
            <a:prstDash val="solid"/>
            <a:headEnd type="none" len="sm" w="sm"/>
            <a:tailEnd type="none" len="sm" w="sm"/>
          </a:ln>
        </p:spPr>
      </p:sp>
      <p:sp>
        <p:nvSpPr>
          <p:cNvPr name="AutoShape 7" id="7"/>
          <p:cNvSpPr/>
          <p:nvPr/>
        </p:nvSpPr>
        <p:spPr>
          <a:xfrm>
            <a:off x="13301844" y="0"/>
            <a:ext cx="0" cy="7163665"/>
          </a:xfrm>
          <a:prstGeom prst="line">
            <a:avLst/>
          </a:prstGeom>
          <a:ln cap="rnd" w="19050">
            <a:solidFill>
              <a:srgbClr val="3A58E4"/>
            </a:solidFill>
            <a:prstDash val="solid"/>
            <a:headEnd type="none" len="sm" w="sm"/>
            <a:tailEnd type="none" len="sm" w="sm"/>
          </a:ln>
        </p:spPr>
      </p:sp>
      <p:sp>
        <p:nvSpPr>
          <p:cNvPr name="AutoShape 8" id="8"/>
          <p:cNvSpPr/>
          <p:nvPr/>
        </p:nvSpPr>
        <p:spPr>
          <a:xfrm>
            <a:off x="0" y="7173190"/>
            <a:ext cx="18288000" cy="0"/>
          </a:xfrm>
          <a:prstGeom prst="line">
            <a:avLst/>
          </a:prstGeom>
          <a:ln cap="rnd" w="19050">
            <a:solidFill>
              <a:srgbClr val="3A58E4"/>
            </a:solidFill>
            <a:prstDash val="solid"/>
            <a:headEnd type="none" len="sm" w="sm"/>
            <a:tailEnd type="none" len="sm" w="sm"/>
          </a:ln>
        </p:spPr>
      </p:sp>
      <p:grpSp>
        <p:nvGrpSpPr>
          <p:cNvPr name="Group 9" id="9"/>
          <p:cNvGrpSpPr/>
          <p:nvPr/>
        </p:nvGrpSpPr>
        <p:grpSpPr>
          <a:xfrm rot="0">
            <a:off x="16305" y="9608"/>
            <a:ext cx="1197405" cy="1196165"/>
            <a:chOff x="0" y="0"/>
            <a:chExt cx="1596540" cy="1594886"/>
          </a:xfrm>
        </p:grpSpPr>
        <p:grpSp>
          <p:nvGrpSpPr>
            <p:cNvPr name="Group 10" id="10"/>
            <p:cNvGrpSpPr/>
            <p:nvPr/>
          </p:nvGrpSpPr>
          <p:grpSpPr>
            <a:xfrm rot="0">
              <a:off x="0" y="0"/>
              <a:ext cx="1596540" cy="1594886"/>
              <a:chOff x="0" y="0"/>
              <a:chExt cx="787566" cy="786750"/>
            </a:xfrm>
          </p:grpSpPr>
          <p:sp>
            <p:nvSpPr>
              <p:cNvPr name="Freeform 11" id="11"/>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12" id="12"/>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206583" y="454809"/>
              <a:ext cx="1183375" cy="770992"/>
            </a:xfrm>
            <a:prstGeom prst="rect">
              <a:avLst/>
            </a:prstGeom>
          </p:spPr>
          <p:txBody>
            <a:bodyPr anchor="t" rtlCol="false" tIns="0" lIns="0" bIns="0" rIns="0">
              <a:spAutoFit/>
            </a:bodyPr>
            <a:lstStyle/>
            <a:p>
              <a:pPr algn="ctr" marL="0" indent="0" lvl="0">
                <a:lnSpc>
                  <a:spcPts val="4156"/>
                </a:lnSpc>
              </a:pPr>
              <a:r>
                <a:rPr lang="en-US" sz="4241" spc="-271">
                  <a:solidFill>
                    <a:srgbClr val="FFFFFF"/>
                  </a:solidFill>
                  <a:latin typeface="Bricolage Grotesque"/>
                  <a:ea typeface="Bricolage Grotesque"/>
                  <a:cs typeface="Bricolage Grotesque"/>
                  <a:sym typeface="Bricolage Grotesque"/>
                </a:rPr>
                <a:t>01</a:t>
              </a:r>
            </a:p>
          </p:txBody>
        </p:sp>
      </p:grpSp>
      <p:grpSp>
        <p:nvGrpSpPr>
          <p:cNvPr name="Group 14" id="14"/>
          <p:cNvGrpSpPr/>
          <p:nvPr/>
        </p:nvGrpSpPr>
        <p:grpSpPr>
          <a:xfrm rot="0">
            <a:off x="4442685" y="9608"/>
            <a:ext cx="1197405" cy="1196165"/>
            <a:chOff x="0" y="0"/>
            <a:chExt cx="1596540" cy="1594886"/>
          </a:xfrm>
        </p:grpSpPr>
        <p:grpSp>
          <p:nvGrpSpPr>
            <p:cNvPr name="Group 15" id="15"/>
            <p:cNvGrpSpPr/>
            <p:nvPr/>
          </p:nvGrpSpPr>
          <p:grpSpPr>
            <a:xfrm rot="0">
              <a:off x="0" y="0"/>
              <a:ext cx="1596540" cy="1594886"/>
              <a:chOff x="0" y="0"/>
              <a:chExt cx="787566" cy="786750"/>
            </a:xfrm>
          </p:grpSpPr>
          <p:sp>
            <p:nvSpPr>
              <p:cNvPr name="Freeform 16" id="16"/>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17" id="17"/>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8" id="18"/>
            <p:cNvSpPr txBox="true"/>
            <p:nvPr/>
          </p:nvSpPr>
          <p:spPr>
            <a:xfrm rot="0">
              <a:off x="206583" y="454809"/>
              <a:ext cx="1183375" cy="770992"/>
            </a:xfrm>
            <a:prstGeom prst="rect">
              <a:avLst/>
            </a:prstGeom>
          </p:spPr>
          <p:txBody>
            <a:bodyPr anchor="t" rtlCol="false" tIns="0" lIns="0" bIns="0" rIns="0">
              <a:spAutoFit/>
            </a:bodyPr>
            <a:lstStyle/>
            <a:p>
              <a:pPr algn="ctr" marL="0" indent="0" lvl="0">
                <a:lnSpc>
                  <a:spcPts val="4156"/>
                </a:lnSpc>
              </a:pPr>
              <a:r>
                <a:rPr lang="en-US" sz="4241" spc="-271">
                  <a:solidFill>
                    <a:srgbClr val="FFFFFF"/>
                  </a:solidFill>
                  <a:latin typeface="Bricolage Grotesque"/>
                  <a:ea typeface="Bricolage Grotesque"/>
                  <a:cs typeface="Bricolage Grotesque"/>
                  <a:sym typeface="Bricolage Grotesque"/>
                </a:rPr>
                <a:t>02</a:t>
              </a:r>
            </a:p>
          </p:txBody>
        </p:sp>
      </p:grpSp>
      <p:grpSp>
        <p:nvGrpSpPr>
          <p:cNvPr name="Group 19" id="19"/>
          <p:cNvGrpSpPr/>
          <p:nvPr/>
        </p:nvGrpSpPr>
        <p:grpSpPr>
          <a:xfrm rot="0">
            <a:off x="8875845" y="9608"/>
            <a:ext cx="1197405" cy="1196165"/>
            <a:chOff x="0" y="0"/>
            <a:chExt cx="1596540" cy="1594886"/>
          </a:xfrm>
        </p:grpSpPr>
        <p:grpSp>
          <p:nvGrpSpPr>
            <p:cNvPr name="Group 20" id="20"/>
            <p:cNvGrpSpPr/>
            <p:nvPr/>
          </p:nvGrpSpPr>
          <p:grpSpPr>
            <a:xfrm rot="0">
              <a:off x="0" y="0"/>
              <a:ext cx="1596540" cy="1594886"/>
              <a:chOff x="0" y="0"/>
              <a:chExt cx="787566" cy="786750"/>
            </a:xfrm>
          </p:grpSpPr>
          <p:sp>
            <p:nvSpPr>
              <p:cNvPr name="Freeform 21" id="21"/>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22" id="22"/>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3" id="23"/>
            <p:cNvSpPr txBox="true"/>
            <p:nvPr/>
          </p:nvSpPr>
          <p:spPr>
            <a:xfrm rot="0">
              <a:off x="206583" y="454809"/>
              <a:ext cx="1183375" cy="770992"/>
            </a:xfrm>
            <a:prstGeom prst="rect">
              <a:avLst/>
            </a:prstGeom>
          </p:spPr>
          <p:txBody>
            <a:bodyPr anchor="t" rtlCol="false" tIns="0" lIns="0" bIns="0" rIns="0">
              <a:spAutoFit/>
            </a:bodyPr>
            <a:lstStyle/>
            <a:p>
              <a:pPr algn="ctr" marL="0" indent="0" lvl="0">
                <a:lnSpc>
                  <a:spcPts val="4156"/>
                </a:lnSpc>
              </a:pPr>
              <a:r>
                <a:rPr lang="en-US" sz="4241" spc="-271">
                  <a:solidFill>
                    <a:srgbClr val="FFFFFF"/>
                  </a:solidFill>
                  <a:latin typeface="Bricolage Grotesque"/>
                  <a:ea typeface="Bricolage Grotesque"/>
                  <a:cs typeface="Bricolage Grotesque"/>
                  <a:sym typeface="Bricolage Grotesque"/>
                </a:rPr>
                <a:t>03</a:t>
              </a:r>
            </a:p>
          </p:txBody>
        </p:sp>
      </p:grpSp>
      <p:grpSp>
        <p:nvGrpSpPr>
          <p:cNvPr name="Group 24" id="24"/>
          <p:cNvGrpSpPr/>
          <p:nvPr/>
        </p:nvGrpSpPr>
        <p:grpSpPr>
          <a:xfrm rot="0">
            <a:off x="13309005" y="9608"/>
            <a:ext cx="1197405" cy="1196165"/>
            <a:chOff x="0" y="0"/>
            <a:chExt cx="1596540" cy="1594886"/>
          </a:xfrm>
        </p:grpSpPr>
        <p:grpSp>
          <p:nvGrpSpPr>
            <p:cNvPr name="Group 25" id="25"/>
            <p:cNvGrpSpPr/>
            <p:nvPr/>
          </p:nvGrpSpPr>
          <p:grpSpPr>
            <a:xfrm rot="0">
              <a:off x="0" y="0"/>
              <a:ext cx="1596540" cy="1594886"/>
              <a:chOff x="0" y="0"/>
              <a:chExt cx="787566" cy="786750"/>
            </a:xfrm>
          </p:grpSpPr>
          <p:sp>
            <p:nvSpPr>
              <p:cNvPr name="Freeform 26" id="26"/>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27" id="27"/>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8" id="28"/>
            <p:cNvSpPr txBox="true"/>
            <p:nvPr/>
          </p:nvSpPr>
          <p:spPr>
            <a:xfrm rot="0">
              <a:off x="206583" y="454809"/>
              <a:ext cx="1183375" cy="770992"/>
            </a:xfrm>
            <a:prstGeom prst="rect">
              <a:avLst/>
            </a:prstGeom>
          </p:spPr>
          <p:txBody>
            <a:bodyPr anchor="t" rtlCol="false" tIns="0" lIns="0" bIns="0" rIns="0">
              <a:spAutoFit/>
            </a:bodyPr>
            <a:lstStyle/>
            <a:p>
              <a:pPr algn="ctr" marL="0" indent="0" lvl="0">
                <a:lnSpc>
                  <a:spcPts val="4156"/>
                </a:lnSpc>
              </a:pPr>
              <a:r>
                <a:rPr lang="en-US" sz="4241" spc="-271">
                  <a:solidFill>
                    <a:srgbClr val="FFFFFF"/>
                  </a:solidFill>
                  <a:latin typeface="Bricolage Grotesque"/>
                  <a:ea typeface="Bricolage Grotesque"/>
                  <a:cs typeface="Bricolage Grotesque"/>
                  <a:sym typeface="Bricolage Grotesque"/>
                </a:rPr>
                <a:t>04</a:t>
              </a:r>
            </a:p>
          </p:txBody>
        </p:sp>
      </p:grpSp>
      <p:sp>
        <p:nvSpPr>
          <p:cNvPr name="Freeform 29" id="29"/>
          <p:cNvSpPr/>
          <p:nvPr/>
        </p:nvSpPr>
        <p:spPr>
          <a:xfrm flipH="false" flipV="false" rot="0">
            <a:off x="10707057" y="1898393"/>
            <a:ext cx="715368" cy="718061"/>
          </a:xfrm>
          <a:custGeom>
            <a:avLst/>
            <a:gdLst/>
            <a:ahLst/>
            <a:cxnLst/>
            <a:rect r="r" b="b" t="t" l="l"/>
            <a:pathLst>
              <a:path h="718061" w="715368">
                <a:moveTo>
                  <a:pt x="0" y="0"/>
                </a:moveTo>
                <a:lnTo>
                  <a:pt x="715368" y="0"/>
                </a:lnTo>
                <a:lnTo>
                  <a:pt x="715368" y="718062"/>
                </a:lnTo>
                <a:lnTo>
                  <a:pt x="0" y="718062"/>
                </a:lnTo>
                <a:lnTo>
                  <a:pt x="0" y="0"/>
                </a:lnTo>
                <a:close/>
              </a:path>
            </a:pathLst>
          </a:custGeom>
          <a:blipFill>
            <a:blip r:embed="rId2"/>
            <a:stretch>
              <a:fillRect l="0" t="0" r="0" b="0"/>
            </a:stretch>
          </a:blipFill>
        </p:spPr>
      </p:sp>
      <p:sp>
        <p:nvSpPr>
          <p:cNvPr name="Freeform 30" id="30"/>
          <p:cNvSpPr/>
          <p:nvPr/>
        </p:nvSpPr>
        <p:spPr>
          <a:xfrm flipH="false" flipV="false" rot="-5400000">
            <a:off x="15114997" y="1891918"/>
            <a:ext cx="785523" cy="812758"/>
          </a:xfrm>
          <a:custGeom>
            <a:avLst/>
            <a:gdLst/>
            <a:ahLst/>
            <a:cxnLst/>
            <a:rect r="r" b="b" t="t" l="l"/>
            <a:pathLst>
              <a:path h="812758" w="785523">
                <a:moveTo>
                  <a:pt x="0" y="0"/>
                </a:moveTo>
                <a:lnTo>
                  <a:pt x="785523" y="0"/>
                </a:lnTo>
                <a:lnTo>
                  <a:pt x="785523" y="812758"/>
                </a:lnTo>
                <a:lnTo>
                  <a:pt x="0" y="812758"/>
                </a:lnTo>
                <a:lnTo>
                  <a:pt x="0" y="0"/>
                </a:lnTo>
                <a:close/>
              </a:path>
            </a:pathLst>
          </a:custGeom>
          <a:blipFill>
            <a:blip r:embed="rId3"/>
            <a:stretch>
              <a:fillRect l="0" t="0" r="0" b="0"/>
            </a:stretch>
          </a:blipFill>
        </p:spPr>
      </p:sp>
      <p:sp>
        <p:nvSpPr>
          <p:cNvPr name="Freeform 31" id="31"/>
          <p:cNvSpPr/>
          <p:nvPr/>
        </p:nvSpPr>
        <p:spPr>
          <a:xfrm flipH="false" flipV="false" rot="0">
            <a:off x="1857310" y="1921936"/>
            <a:ext cx="757568" cy="755569"/>
          </a:xfrm>
          <a:custGeom>
            <a:avLst/>
            <a:gdLst/>
            <a:ahLst/>
            <a:cxnLst/>
            <a:rect r="r" b="b" t="t" l="l"/>
            <a:pathLst>
              <a:path h="755569" w="757568">
                <a:moveTo>
                  <a:pt x="0" y="0"/>
                </a:moveTo>
                <a:lnTo>
                  <a:pt x="757567" y="0"/>
                </a:lnTo>
                <a:lnTo>
                  <a:pt x="757567" y="755568"/>
                </a:lnTo>
                <a:lnTo>
                  <a:pt x="0" y="755568"/>
                </a:lnTo>
                <a:lnTo>
                  <a:pt x="0" y="0"/>
                </a:lnTo>
                <a:close/>
              </a:path>
            </a:pathLst>
          </a:custGeom>
          <a:blipFill>
            <a:blip r:embed="rId4"/>
            <a:stretch>
              <a:fillRect l="0" t="0" r="0" b="0"/>
            </a:stretch>
          </a:blipFill>
        </p:spPr>
      </p:sp>
      <p:grpSp>
        <p:nvGrpSpPr>
          <p:cNvPr name="Group 32" id="32"/>
          <p:cNvGrpSpPr/>
          <p:nvPr/>
        </p:nvGrpSpPr>
        <p:grpSpPr>
          <a:xfrm rot="0">
            <a:off x="1028700" y="8125800"/>
            <a:ext cx="22757" cy="975106"/>
            <a:chOff x="0" y="0"/>
            <a:chExt cx="12543" cy="537460"/>
          </a:xfrm>
        </p:grpSpPr>
        <p:sp>
          <p:nvSpPr>
            <p:cNvPr name="Freeform 33" id="3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34" id="3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5" id="35"/>
          <p:cNvGrpSpPr/>
          <p:nvPr/>
        </p:nvGrpSpPr>
        <p:grpSpPr>
          <a:xfrm rot="0">
            <a:off x="-9525" y="7173190"/>
            <a:ext cx="546689" cy="3113810"/>
            <a:chOff x="0" y="0"/>
            <a:chExt cx="143984" cy="820098"/>
          </a:xfrm>
        </p:grpSpPr>
        <p:sp>
          <p:nvSpPr>
            <p:cNvPr name="Freeform 36" id="36"/>
            <p:cNvSpPr/>
            <p:nvPr/>
          </p:nvSpPr>
          <p:spPr>
            <a:xfrm flipH="false" flipV="false" rot="0">
              <a:off x="0" y="0"/>
              <a:ext cx="143984" cy="820098"/>
            </a:xfrm>
            <a:custGeom>
              <a:avLst/>
              <a:gdLst/>
              <a:ahLst/>
              <a:cxnLst/>
              <a:rect r="r" b="b" t="t" l="l"/>
              <a:pathLst>
                <a:path h="820098" w="143984">
                  <a:moveTo>
                    <a:pt x="0" y="0"/>
                  </a:moveTo>
                  <a:lnTo>
                    <a:pt x="143984" y="0"/>
                  </a:lnTo>
                  <a:lnTo>
                    <a:pt x="143984" y="820098"/>
                  </a:lnTo>
                  <a:lnTo>
                    <a:pt x="0" y="820098"/>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37" id="37"/>
            <p:cNvSpPr txBox="true"/>
            <p:nvPr/>
          </p:nvSpPr>
          <p:spPr>
            <a:xfrm>
              <a:off x="0" y="-38100"/>
              <a:ext cx="143984" cy="85819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38" id="38"/>
          <p:cNvSpPr/>
          <p:nvPr/>
        </p:nvSpPr>
        <p:spPr>
          <a:xfrm flipH="false" flipV="false" rot="0">
            <a:off x="6119765" y="1747322"/>
            <a:ext cx="1158830" cy="1095622"/>
          </a:xfrm>
          <a:custGeom>
            <a:avLst/>
            <a:gdLst/>
            <a:ahLst/>
            <a:cxnLst/>
            <a:rect r="r" b="b" t="t" l="l"/>
            <a:pathLst>
              <a:path h="1095622" w="1158830">
                <a:moveTo>
                  <a:pt x="0" y="0"/>
                </a:moveTo>
                <a:lnTo>
                  <a:pt x="1158831" y="0"/>
                </a:lnTo>
                <a:lnTo>
                  <a:pt x="1158831" y="1095621"/>
                </a:lnTo>
                <a:lnTo>
                  <a:pt x="0" y="1095621"/>
                </a:lnTo>
                <a:lnTo>
                  <a:pt x="0" y="0"/>
                </a:lnTo>
                <a:close/>
              </a:path>
            </a:pathLst>
          </a:custGeom>
          <a:blipFill>
            <a:blip r:embed="rId5"/>
            <a:stretch>
              <a:fillRect l="0" t="0" r="0" b="0"/>
            </a:stretch>
          </a:blipFill>
        </p:spPr>
      </p:sp>
      <p:sp>
        <p:nvSpPr>
          <p:cNvPr name="TextBox 39" id="39"/>
          <p:cNvSpPr txBox="true"/>
          <p:nvPr/>
        </p:nvSpPr>
        <p:spPr>
          <a:xfrm rot="0">
            <a:off x="562973" y="4170724"/>
            <a:ext cx="3336787" cy="2147910"/>
          </a:xfrm>
          <a:prstGeom prst="rect">
            <a:avLst/>
          </a:prstGeom>
        </p:spPr>
        <p:txBody>
          <a:bodyPr anchor="t" rtlCol="false" tIns="0" lIns="0" bIns="0" rIns="0">
            <a:spAutoFit/>
          </a:bodyPr>
          <a:lstStyle/>
          <a:p>
            <a:pPr algn="just" marL="0" indent="0" lvl="0">
              <a:lnSpc>
                <a:spcPts val="2435"/>
              </a:lnSpc>
            </a:pPr>
            <a:r>
              <a:rPr lang="en-US" sz="1873" spc="-5">
                <a:solidFill>
                  <a:srgbClr val="3A58E4"/>
                </a:solidFill>
                <a:latin typeface="Poppins"/>
                <a:ea typeface="Poppins"/>
                <a:cs typeface="Poppins"/>
                <a:sym typeface="Poppins"/>
              </a:rPr>
              <a:t>Most popular option with 42% of orders. Average delivery time of 5-7 days. Cost-effective for budget-conscious customers with $58,270 total revenue generated.</a:t>
            </a:r>
          </a:p>
        </p:txBody>
      </p:sp>
      <p:sp>
        <p:nvSpPr>
          <p:cNvPr name="TextBox 40" id="40"/>
          <p:cNvSpPr txBox="true"/>
          <p:nvPr/>
        </p:nvSpPr>
        <p:spPr>
          <a:xfrm rot="0">
            <a:off x="4989081" y="4475524"/>
            <a:ext cx="3336787" cy="1843110"/>
          </a:xfrm>
          <a:prstGeom prst="rect">
            <a:avLst/>
          </a:prstGeom>
        </p:spPr>
        <p:txBody>
          <a:bodyPr anchor="t" rtlCol="false" tIns="0" lIns="0" bIns="0" rIns="0">
            <a:spAutoFit/>
          </a:bodyPr>
          <a:lstStyle/>
          <a:p>
            <a:pPr algn="just" marL="0" indent="0" lvl="0">
              <a:lnSpc>
                <a:spcPts val="2435"/>
              </a:lnSpc>
            </a:pPr>
            <a:r>
              <a:rPr lang="en-US" sz="1873" spc="-5">
                <a:solidFill>
                  <a:srgbClr val="3A58E4"/>
                </a:solidFill>
                <a:latin typeface="Poppins"/>
                <a:ea typeface="Poppins"/>
                <a:cs typeface="Poppins"/>
                <a:sym typeface="Poppins"/>
              </a:rPr>
              <a:t>Selected by 28% of customers seeking faster delivery. 2-3 day delivery window. Higher margin option contributing $65,263 in revenue.</a:t>
            </a:r>
          </a:p>
        </p:txBody>
      </p:sp>
      <p:sp>
        <p:nvSpPr>
          <p:cNvPr name="TextBox 41" id="41"/>
          <p:cNvSpPr txBox="true"/>
          <p:nvPr/>
        </p:nvSpPr>
        <p:spPr>
          <a:xfrm rot="0">
            <a:off x="9415189" y="4475524"/>
            <a:ext cx="3336787" cy="1843110"/>
          </a:xfrm>
          <a:prstGeom prst="rect">
            <a:avLst/>
          </a:prstGeom>
        </p:spPr>
        <p:txBody>
          <a:bodyPr anchor="t" rtlCol="false" tIns="0" lIns="0" bIns="0" rIns="0">
            <a:spAutoFit/>
          </a:bodyPr>
          <a:lstStyle/>
          <a:p>
            <a:pPr algn="just" marL="0" indent="0" lvl="0">
              <a:lnSpc>
                <a:spcPts val="2435"/>
              </a:lnSpc>
            </a:pPr>
            <a:r>
              <a:rPr lang="en-US" sz="1873" spc="-5">
                <a:solidFill>
                  <a:srgbClr val="3A58E4"/>
                </a:solidFill>
                <a:latin typeface="Poppins"/>
                <a:ea typeface="Poppins"/>
                <a:cs typeface="Poppins"/>
                <a:sym typeface="Poppins"/>
              </a:rPr>
              <a:t>Premium service used by 12% of orders. Highest customer satisfaction at 4.8 stars. Generates $27,970 with strong repeat purchase correlation.</a:t>
            </a:r>
          </a:p>
        </p:txBody>
      </p:sp>
      <p:sp>
        <p:nvSpPr>
          <p:cNvPr name="TextBox 42" id="42"/>
          <p:cNvSpPr txBox="true"/>
          <p:nvPr/>
        </p:nvSpPr>
        <p:spPr>
          <a:xfrm rot="0">
            <a:off x="13844769" y="4780324"/>
            <a:ext cx="3336787" cy="1538310"/>
          </a:xfrm>
          <a:prstGeom prst="rect">
            <a:avLst/>
          </a:prstGeom>
        </p:spPr>
        <p:txBody>
          <a:bodyPr anchor="t" rtlCol="false" tIns="0" lIns="0" bIns="0" rIns="0">
            <a:spAutoFit/>
          </a:bodyPr>
          <a:lstStyle/>
          <a:p>
            <a:pPr algn="just" marL="0" indent="0" lvl="0">
              <a:lnSpc>
                <a:spcPts val="2435"/>
              </a:lnSpc>
            </a:pPr>
            <a:r>
              <a:rPr lang="en-US" sz="1873" spc="-5">
                <a:solidFill>
                  <a:srgbClr val="3A58E4"/>
                </a:solidFill>
                <a:latin typeface="Poppins"/>
                <a:ea typeface="Poppins"/>
                <a:cs typeface="Poppins"/>
                <a:sym typeface="Poppins"/>
              </a:rPr>
              <a:t>Offered on orders over $75. Drives 18% of total orders. Increases average order value by 23% with $81,578 revenue contribution.</a:t>
            </a:r>
          </a:p>
        </p:txBody>
      </p:sp>
      <p:sp>
        <p:nvSpPr>
          <p:cNvPr name="TextBox 43" id="43"/>
          <p:cNvSpPr txBox="true"/>
          <p:nvPr/>
        </p:nvSpPr>
        <p:spPr>
          <a:xfrm rot="0">
            <a:off x="1137678" y="7779280"/>
            <a:ext cx="2762082" cy="1479020"/>
          </a:xfrm>
          <a:prstGeom prst="rect">
            <a:avLst/>
          </a:prstGeom>
        </p:spPr>
        <p:txBody>
          <a:bodyPr anchor="t" rtlCol="false" tIns="0" lIns="0" bIns="0" rIns="0">
            <a:spAutoFit/>
          </a:bodyPr>
          <a:lstStyle/>
          <a:p>
            <a:pPr algn="l" marL="0" indent="0" lvl="0">
              <a:lnSpc>
                <a:spcPts val="3816"/>
              </a:lnSpc>
            </a:pPr>
            <a:r>
              <a:rPr lang="en-US" sz="3894" spc="-249">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a:ea typeface="Bricolage Grotesque"/>
                <a:cs typeface="Bricolage Grotesque"/>
                <a:sym typeface="Bricolage Grotesque"/>
              </a:rPr>
              <a:t>Shipping Type Comparison</a:t>
            </a:r>
          </a:p>
        </p:txBody>
      </p:sp>
      <p:sp>
        <p:nvSpPr>
          <p:cNvPr name="TextBox 44" id="44"/>
          <p:cNvSpPr txBox="true"/>
          <p:nvPr/>
        </p:nvSpPr>
        <p:spPr>
          <a:xfrm rot="0">
            <a:off x="4989081" y="8088378"/>
            <a:ext cx="7762895" cy="1012528"/>
          </a:xfrm>
          <a:prstGeom prst="rect">
            <a:avLst/>
          </a:prstGeom>
        </p:spPr>
        <p:txBody>
          <a:bodyPr anchor="t" rtlCol="false" tIns="0" lIns="0" bIns="0" rIns="0">
            <a:spAutoFit/>
          </a:bodyPr>
          <a:lstStyle/>
          <a:p>
            <a:pPr algn="just" marL="0" indent="0" lvl="0">
              <a:lnSpc>
                <a:spcPts val="2660"/>
              </a:lnSpc>
            </a:pPr>
            <a:r>
              <a:rPr lang="en-US" sz="1900" spc="-5">
                <a:solidFill>
                  <a:srgbClr val="3A58E4"/>
                </a:solidFill>
                <a:latin typeface="Poppins"/>
                <a:ea typeface="Poppins"/>
                <a:cs typeface="Poppins"/>
                <a:sym typeface="Poppins"/>
              </a:rPr>
              <a:t>Analysis of customer shipping preferences reveals diverse needs across our customer base. Free shipping drives highest order values while express options show strong margin performance.</a:t>
            </a:r>
          </a:p>
        </p:txBody>
      </p:sp>
      <p:sp>
        <p:nvSpPr>
          <p:cNvPr name="TextBox 45" id="45"/>
          <p:cNvSpPr txBox="true"/>
          <p:nvPr/>
        </p:nvSpPr>
        <p:spPr>
          <a:xfrm rot="0">
            <a:off x="512270" y="3090400"/>
            <a:ext cx="3438193" cy="406062"/>
          </a:xfrm>
          <a:prstGeom prst="rect">
            <a:avLst/>
          </a:prstGeom>
        </p:spPr>
        <p:txBody>
          <a:bodyPr anchor="t" rtlCol="false" tIns="0" lIns="0" bIns="0" rIns="0">
            <a:spAutoFit/>
          </a:bodyPr>
          <a:lstStyle/>
          <a:p>
            <a:pPr algn="ctr" marL="0" indent="0" lvl="0">
              <a:lnSpc>
                <a:spcPts val="3343"/>
              </a:lnSpc>
              <a:spcBef>
                <a:spcPct val="0"/>
              </a:spcBef>
            </a:pPr>
            <a:r>
              <a:rPr lang="en-US" b="true" sz="2388"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STANDARD SHIPPING</a:t>
            </a:r>
          </a:p>
        </p:txBody>
      </p:sp>
      <p:sp>
        <p:nvSpPr>
          <p:cNvPr name="TextBox 46" id="46"/>
          <p:cNvSpPr txBox="true"/>
          <p:nvPr/>
        </p:nvSpPr>
        <p:spPr>
          <a:xfrm rot="0">
            <a:off x="4938378" y="3090400"/>
            <a:ext cx="3438193" cy="406062"/>
          </a:xfrm>
          <a:prstGeom prst="rect">
            <a:avLst/>
          </a:prstGeom>
        </p:spPr>
        <p:txBody>
          <a:bodyPr anchor="t" rtlCol="false" tIns="0" lIns="0" bIns="0" rIns="0">
            <a:spAutoFit/>
          </a:bodyPr>
          <a:lstStyle/>
          <a:p>
            <a:pPr algn="ctr" marL="0" indent="0" lvl="0">
              <a:lnSpc>
                <a:spcPts val="3343"/>
              </a:lnSpc>
              <a:spcBef>
                <a:spcPct val="0"/>
              </a:spcBef>
            </a:pPr>
            <a:r>
              <a:rPr lang="en-US" b="true" sz="2388"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EXPRESS SHIPPING</a:t>
            </a:r>
          </a:p>
        </p:txBody>
      </p:sp>
      <p:sp>
        <p:nvSpPr>
          <p:cNvPr name="TextBox 47" id="47"/>
          <p:cNvSpPr txBox="true"/>
          <p:nvPr/>
        </p:nvSpPr>
        <p:spPr>
          <a:xfrm rot="0">
            <a:off x="9364486" y="3090400"/>
            <a:ext cx="3438193" cy="406062"/>
          </a:xfrm>
          <a:prstGeom prst="rect">
            <a:avLst/>
          </a:prstGeom>
        </p:spPr>
        <p:txBody>
          <a:bodyPr anchor="t" rtlCol="false" tIns="0" lIns="0" bIns="0" rIns="0">
            <a:spAutoFit/>
          </a:bodyPr>
          <a:lstStyle/>
          <a:p>
            <a:pPr algn="ctr" marL="0" indent="0" lvl="0">
              <a:lnSpc>
                <a:spcPts val="3343"/>
              </a:lnSpc>
            </a:pPr>
            <a:r>
              <a:rPr lang="en-US" b="true" sz="2388"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SAME-DAY DELIVERY</a:t>
            </a:r>
          </a:p>
        </p:txBody>
      </p:sp>
      <p:sp>
        <p:nvSpPr>
          <p:cNvPr name="TextBox 48" id="48"/>
          <p:cNvSpPr txBox="true"/>
          <p:nvPr/>
        </p:nvSpPr>
        <p:spPr>
          <a:xfrm rot="0">
            <a:off x="13794066" y="3090400"/>
            <a:ext cx="3438193" cy="406062"/>
          </a:xfrm>
          <a:prstGeom prst="rect">
            <a:avLst/>
          </a:prstGeom>
        </p:spPr>
        <p:txBody>
          <a:bodyPr anchor="t" rtlCol="false" tIns="0" lIns="0" bIns="0" rIns="0">
            <a:spAutoFit/>
          </a:bodyPr>
          <a:lstStyle/>
          <a:p>
            <a:pPr algn="ctr" marL="0" indent="0" lvl="0">
              <a:lnSpc>
                <a:spcPts val="3343"/>
              </a:lnSpc>
            </a:pPr>
            <a:r>
              <a:rPr lang="en-US" b="true" sz="2388"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FREE SHIPPING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828142" y="1358088"/>
            <a:ext cx="47625" cy="2040668"/>
            <a:chOff x="0" y="0"/>
            <a:chExt cx="12543" cy="537460"/>
          </a:xfrm>
        </p:grpSpPr>
        <p:sp>
          <p:nvSpPr>
            <p:cNvPr name="Freeform 3" id="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4" id="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7828142" y="4245674"/>
            <a:ext cx="9021242" cy="583297"/>
            <a:chOff x="0" y="0"/>
            <a:chExt cx="12028323" cy="777729"/>
          </a:xfrm>
        </p:grpSpPr>
        <p:sp>
          <p:nvSpPr>
            <p:cNvPr name="TextBox 6" id="6"/>
            <p:cNvSpPr txBox="true"/>
            <p:nvPr/>
          </p:nvSpPr>
          <p:spPr>
            <a:xfrm rot="0">
              <a:off x="0" y="-47625"/>
              <a:ext cx="11773903" cy="825354"/>
            </a:xfrm>
            <a:prstGeom prst="rect">
              <a:avLst/>
            </a:prstGeom>
          </p:spPr>
          <p:txBody>
            <a:bodyPr anchor="t" rtlCol="false" tIns="0" lIns="0" bIns="0" rIns="0">
              <a:spAutoFit/>
            </a:bodyPr>
            <a:lstStyle/>
            <a:p>
              <a:pPr algn="l" marL="0" indent="0" lvl="0">
                <a:lnSpc>
                  <a:spcPts val="2499"/>
                </a:lnSpc>
              </a:pPr>
              <a:r>
                <a:rPr lang="en-US" b="true" sz="1785" spc="-44">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COMPARING SPENDING PATTERNS BETWEEN SUBSCRIBERS AND NON-SUBSCRIBERS</a:t>
              </a:r>
            </a:p>
          </p:txBody>
        </p:sp>
        <p:sp>
          <p:nvSpPr>
            <p:cNvPr name="Freeform 7" id="7"/>
            <p:cNvSpPr/>
            <p:nvPr/>
          </p:nvSpPr>
          <p:spPr>
            <a:xfrm flipH="false" flipV="false" rot="-8687136">
              <a:off x="11711303" y="316887"/>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8" id="8"/>
          <p:cNvGrpSpPr/>
          <p:nvPr/>
        </p:nvGrpSpPr>
        <p:grpSpPr>
          <a:xfrm rot="0">
            <a:off x="16438046" y="245225"/>
            <a:ext cx="1849954" cy="1602941"/>
            <a:chOff x="0" y="0"/>
            <a:chExt cx="2466605" cy="2137255"/>
          </a:xfrm>
        </p:grpSpPr>
        <p:grpSp>
          <p:nvGrpSpPr>
            <p:cNvPr name="Group 9" id="9"/>
            <p:cNvGrpSpPr/>
            <p:nvPr/>
          </p:nvGrpSpPr>
          <p:grpSpPr>
            <a:xfrm rot="0">
              <a:off x="0" y="0"/>
              <a:ext cx="2466605" cy="2137255"/>
              <a:chOff x="0" y="0"/>
              <a:chExt cx="787566" cy="682407"/>
            </a:xfrm>
          </p:grpSpPr>
          <p:sp>
            <p:nvSpPr>
              <p:cNvPr name="Freeform 10" id="10"/>
              <p:cNvSpPr/>
              <p:nvPr/>
            </p:nvSpPr>
            <p:spPr>
              <a:xfrm flipH="false" flipV="false" rot="0">
                <a:off x="0" y="0"/>
                <a:ext cx="787566" cy="682407"/>
              </a:xfrm>
              <a:custGeom>
                <a:avLst/>
                <a:gdLst/>
                <a:ahLst/>
                <a:cxnLst/>
                <a:rect r="r" b="b" t="t" l="l"/>
                <a:pathLst>
                  <a:path h="682407" w="787566">
                    <a:moveTo>
                      <a:pt x="0" y="0"/>
                    </a:moveTo>
                    <a:lnTo>
                      <a:pt x="787566" y="0"/>
                    </a:lnTo>
                    <a:lnTo>
                      <a:pt x="787566" y="682407"/>
                    </a:lnTo>
                    <a:lnTo>
                      <a:pt x="0" y="682407"/>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1" id="11"/>
              <p:cNvSpPr txBox="true"/>
              <p:nvPr/>
            </p:nvSpPr>
            <p:spPr>
              <a:xfrm>
                <a:off x="0" y="-38100"/>
                <a:ext cx="787566" cy="72050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319164" y="665474"/>
              <a:ext cx="1828278" cy="901557"/>
            </a:xfrm>
            <a:prstGeom prst="rect">
              <a:avLst/>
            </a:prstGeom>
          </p:spPr>
          <p:txBody>
            <a:bodyPr anchor="t" rtlCol="false" tIns="0" lIns="0" bIns="0" rIns="0">
              <a:spAutoFit/>
            </a:bodyPr>
            <a:lstStyle/>
            <a:p>
              <a:pPr algn="ctr" marL="0" indent="0" lvl="0">
                <a:lnSpc>
                  <a:spcPts val="4840"/>
                </a:lnSpc>
              </a:pPr>
              <a:r>
                <a:rPr lang="en-US" sz="4939" spc="-316">
                  <a:solidFill>
                    <a:srgbClr val="FFFFFF"/>
                  </a:solidFill>
                  <a:latin typeface="Bricolage Grotesque"/>
                  <a:ea typeface="Bricolage Grotesque"/>
                  <a:cs typeface="Bricolage Grotesque"/>
                  <a:sym typeface="Bricolage Grotesque"/>
                </a:rPr>
                <a:t>07</a:t>
              </a:r>
            </a:p>
          </p:txBody>
        </p:sp>
      </p:grpSp>
      <p:sp>
        <p:nvSpPr>
          <p:cNvPr name="AutoShape 13" id="13"/>
          <p:cNvSpPr/>
          <p:nvPr/>
        </p:nvSpPr>
        <p:spPr>
          <a:xfrm flipH="true">
            <a:off x="6542795" y="0"/>
            <a:ext cx="0" cy="10287000"/>
          </a:xfrm>
          <a:prstGeom prst="line">
            <a:avLst/>
          </a:prstGeom>
          <a:ln cap="rnd" w="19050">
            <a:solidFill>
              <a:srgbClr val="3A58E4"/>
            </a:solidFill>
            <a:prstDash val="solid"/>
            <a:headEnd type="none" len="sm" w="sm"/>
            <a:tailEnd type="none" len="sm" w="sm"/>
          </a:ln>
        </p:spPr>
      </p:sp>
      <p:sp>
        <p:nvSpPr>
          <p:cNvPr name="AutoShape 14" id="14"/>
          <p:cNvSpPr/>
          <p:nvPr/>
        </p:nvSpPr>
        <p:spPr>
          <a:xfrm>
            <a:off x="0" y="5320770"/>
            <a:ext cx="6542795" cy="0"/>
          </a:xfrm>
          <a:prstGeom prst="line">
            <a:avLst/>
          </a:prstGeom>
          <a:ln cap="rnd" w="19050">
            <a:solidFill>
              <a:srgbClr val="3A58E4"/>
            </a:solidFill>
            <a:prstDash val="solid"/>
            <a:headEnd type="none" len="sm" w="sm"/>
            <a:tailEnd type="none" len="sm" w="sm"/>
          </a:ln>
        </p:spPr>
      </p:sp>
      <p:grpSp>
        <p:nvGrpSpPr>
          <p:cNvPr name="Group 15" id="15"/>
          <p:cNvGrpSpPr/>
          <p:nvPr/>
        </p:nvGrpSpPr>
        <p:grpSpPr>
          <a:xfrm rot="0">
            <a:off x="197452" y="174137"/>
            <a:ext cx="6165930" cy="4969363"/>
            <a:chOff x="0" y="0"/>
            <a:chExt cx="955264" cy="769884"/>
          </a:xfrm>
        </p:grpSpPr>
        <p:sp>
          <p:nvSpPr>
            <p:cNvPr name="Freeform 16" id="16"/>
            <p:cNvSpPr/>
            <p:nvPr/>
          </p:nvSpPr>
          <p:spPr>
            <a:xfrm flipH="false" flipV="false" rot="0">
              <a:off x="0" y="0"/>
              <a:ext cx="955264" cy="769884"/>
            </a:xfrm>
            <a:custGeom>
              <a:avLst/>
              <a:gdLst/>
              <a:ahLst/>
              <a:cxnLst/>
              <a:rect r="r" b="b" t="t" l="l"/>
              <a:pathLst>
                <a:path h="769884" w="955264">
                  <a:moveTo>
                    <a:pt x="0" y="0"/>
                  </a:moveTo>
                  <a:lnTo>
                    <a:pt x="955264" y="0"/>
                  </a:lnTo>
                  <a:lnTo>
                    <a:pt x="955264" y="769884"/>
                  </a:lnTo>
                  <a:lnTo>
                    <a:pt x="0" y="769884"/>
                  </a:lnTo>
                  <a:close/>
                </a:path>
              </a:pathLst>
            </a:custGeom>
            <a:blipFill>
              <a:blip r:embed="rId4"/>
              <a:stretch>
                <a:fillRect l="0" t="-174" r="0" b="-174"/>
              </a:stretch>
            </a:blipFill>
          </p:spPr>
        </p:sp>
      </p:grpSp>
      <p:sp>
        <p:nvSpPr>
          <p:cNvPr name="TextBox 17" id="17"/>
          <p:cNvSpPr txBox="true"/>
          <p:nvPr/>
        </p:nvSpPr>
        <p:spPr>
          <a:xfrm rot="0">
            <a:off x="8056208" y="1830250"/>
            <a:ext cx="7107541" cy="1897894"/>
          </a:xfrm>
          <a:prstGeom prst="rect">
            <a:avLst/>
          </a:prstGeom>
        </p:spPr>
        <p:txBody>
          <a:bodyPr anchor="t" rtlCol="false" tIns="0" lIns="0" bIns="0" rIns="0">
            <a:spAutoFit/>
          </a:bodyPr>
          <a:lstStyle/>
          <a:p>
            <a:pPr algn="l" marL="0" indent="0" lvl="0">
              <a:lnSpc>
                <a:spcPts val="7233"/>
              </a:lnSpc>
            </a:pPr>
            <a:r>
              <a:rPr lang="en-US" sz="7381" spc="-472">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Subscriber vs</a:t>
            </a:r>
          </a:p>
          <a:p>
            <a:pPr algn="l" marL="0" indent="0" lvl="0">
              <a:lnSpc>
                <a:spcPts val="7233"/>
              </a:lnSpc>
            </a:pPr>
            <a:r>
              <a:rPr lang="en-US" sz="7381" spc="-472">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Non-Subscriber</a:t>
            </a:r>
          </a:p>
        </p:txBody>
      </p:sp>
      <p:sp>
        <p:nvSpPr>
          <p:cNvPr name="TextBox 18" id="18"/>
          <p:cNvSpPr txBox="true"/>
          <p:nvPr/>
        </p:nvSpPr>
        <p:spPr>
          <a:xfrm rot="0">
            <a:off x="7828142" y="6689165"/>
            <a:ext cx="9021242" cy="2376876"/>
          </a:xfrm>
          <a:prstGeom prst="rect">
            <a:avLst/>
          </a:prstGeom>
        </p:spPr>
        <p:txBody>
          <a:bodyPr anchor="t" rtlCol="false" tIns="0" lIns="0" bIns="0" rIns="0">
            <a:spAutoFit/>
          </a:bodyPr>
          <a:lstStyle/>
          <a:p>
            <a:pPr algn="just" marL="0" indent="0" lvl="0">
              <a:lnSpc>
                <a:spcPts val="2341"/>
              </a:lnSpc>
            </a:pPr>
            <a:r>
              <a:rPr lang="en-US" sz="1672" spc="-5">
                <a:solidFill>
                  <a:srgbClr val="3A58E4"/>
                </a:solidFill>
                <a:latin typeface="Poppins"/>
                <a:ea typeface="Poppins"/>
                <a:cs typeface="Poppins"/>
                <a:sym typeface="Poppins"/>
              </a:rPr>
              <a:t>Our analysis reveals significant differences in purchasing behavior between subscribers and non-subscribers. Subscribers demonstrate 23% higher average order values and make purchases 2.4x more frequently than non-subscribers. The subscription model drives customer loyalty with a 67% retention rate compared to 31% for non-subscribers. Subscribers also show greater engagement with promotional offers and new product launches, contributing to a more predictable revenue stream and higher customer lifetime value across all demographic segments.</a:t>
            </a:r>
          </a:p>
        </p:txBody>
      </p:sp>
      <p:sp>
        <p:nvSpPr>
          <p:cNvPr name="TextBox 19" id="19"/>
          <p:cNvSpPr txBox="true"/>
          <p:nvPr/>
        </p:nvSpPr>
        <p:spPr>
          <a:xfrm rot="0">
            <a:off x="1736067" y="8460815"/>
            <a:ext cx="3088700" cy="605226"/>
          </a:xfrm>
          <a:prstGeom prst="rect">
            <a:avLst/>
          </a:prstGeom>
        </p:spPr>
        <p:txBody>
          <a:bodyPr anchor="t" rtlCol="false" tIns="0" lIns="0" bIns="0" rIns="0">
            <a:spAutoFit/>
          </a:bodyPr>
          <a:lstStyle/>
          <a:p>
            <a:pPr algn="ctr" marL="0" indent="0" lvl="0">
              <a:lnSpc>
                <a:spcPts val="2341"/>
              </a:lnSpc>
            </a:pPr>
            <a:r>
              <a:rPr lang="en-US" sz="1672" spc="-5">
                <a:solidFill>
                  <a:srgbClr val="3A58E4"/>
                </a:solidFill>
                <a:latin typeface="Poppins"/>
                <a:ea typeface="Poppins"/>
                <a:cs typeface="Poppins"/>
                <a:sym typeface="Poppins"/>
              </a:rPr>
              <a:t>Higher spend from subscription members</a:t>
            </a:r>
          </a:p>
        </p:txBody>
      </p:sp>
      <p:sp>
        <p:nvSpPr>
          <p:cNvPr name="TextBox 20" id="20"/>
          <p:cNvSpPr txBox="true"/>
          <p:nvPr/>
        </p:nvSpPr>
        <p:spPr>
          <a:xfrm rot="0">
            <a:off x="722135" y="5664852"/>
            <a:ext cx="5116565" cy="1932325"/>
          </a:xfrm>
          <a:prstGeom prst="rect">
            <a:avLst/>
          </a:prstGeom>
        </p:spPr>
        <p:txBody>
          <a:bodyPr anchor="t" rtlCol="false" tIns="0" lIns="0" bIns="0" rIns="0">
            <a:spAutoFit/>
          </a:bodyPr>
          <a:lstStyle/>
          <a:p>
            <a:pPr algn="ctr" marL="0" indent="0" lvl="0">
              <a:lnSpc>
                <a:spcPts val="15818"/>
              </a:lnSpc>
              <a:spcBef>
                <a:spcPct val="0"/>
              </a:spcBef>
            </a:pPr>
            <a:r>
              <a:rPr lang="en-US" sz="11299" spc="-723">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a:ea typeface="Bricolage Grotesque"/>
                <a:cs typeface="Bricolage Grotesque"/>
                <a:sym typeface="Bricolage Grotesque"/>
              </a:rPr>
              <a:t>23%</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525863"/>
            <a:ext cx="47625" cy="2040668"/>
            <a:chOff x="0" y="0"/>
            <a:chExt cx="12543" cy="537460"/>
          </a:xfrm>
        </p:grpSpPr>
        <p:sp>
          <p:nvSpPr>
            <p:cNvPr name="Freeform 3" id="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4" id="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1028700" y="4353287"/>
            <a:ext cx="7514069" cy="692869"/>
          </a:xfrm>
          <a:prstGeom prst="rect">
            <a:avLst/>
          </a:prstGeom>
        </p:spPr>
        <p:txBody>
          <a:bodyPr anchor="t" rtlCol="false" tIns="0" lIns="0" bIns="0" rIns="0">
            <a:spAutoFit/>
          </a:bodyPr>
          <a:lstStyle/>
          <a:p>
            <a:pPr algn="just" marL="0" indent="0" lvl="0">
              <a:lnSpc>
                <a:spcPts val="2760"/>
              </a:lnSpc>
            </a:pPr>
            <a:r>
              <a:rPr lang="en-US" b="true" sz="1971" spc="-49">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ANALYSIS OF DISCOUNT RATES ACROSS PRODUCT CATEGORIES AND THEIR CORRELATION WITH SALES PERFORMANCE</a:t>
            </a:r>
          </a:p>
        </p:txBody>
      </p:sp>
      <p:sp>
        <p:nvSpPr>
          <p:cNvPr name="Freeform 6" id="6"/>
          <p:cNvSpPr/>
          <p:nvPr/>
        </p:nvSpPr>
        <p:spPr>
          <a:xfrm flipH="false" flipV="false" rot="-8687136">
            <a:off x="4577987" y="4654787"/>
            <a:ext cx="189150" cy="228643"/>
          </a:xfrm>
          <a:custGeom>
            <a:avLst/>
            <a:gdLst/>
            <a:ahLst/>
            <a:cxnLst/>
            <a:rect r="r" b="b" t="t" l="l"/>
            <a:pathLst>
              <a:path h="228643" w="189150">
                <a:moveTo>
                  <a:pt x="0" y="0"/>
                </a:moveTo>
                <a:lnTo>
                  <a:pt x="189150" y="0"/>
                </a:lnTo>
                <a:lnTo>
                  <a:pt x="189150" y="228643"/>
                </a:lnTo>
                <a:lnTo>
                  <a:pt x="0" y="2286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692815" y="164166"/>
            <a:ext cx="1849954" cy="1684000"/>
            <a:chOff x="0" y="0"/>
            <a:chExt cx="2466605" cy="2245334"/>
          </a:xfrm>
        </p:grpSpPr>
        <p:grpSp>
          <p:nvGrpSpPr>
            <p:cNvPr name="Group 8" id="8"/>
            <p:cNvGrpSpPr/>
            <p:nvPr/>
          </p:nvGrpSpPr>
          <p:grpSpPr>
            <a:xfrm rot="0">
              <a:off x="0" y="0"/>
              <a:ext cx="2466605" cy="2245334"/>
              <a:chOff x="0" y="0"/>
              <a:chExt cx="787566" cy="716916"/>
            </a:xfrm>
          </p:grpSpPr>
          <p:sp>
            <p:nvSpPr>
              <p:cNvPr name="Freeform 9" id="9"/>
              <p:cNvSpPr/>
              <p:nvPr/>
            </p:nvSpPr>
            <p:spPr>
              <a:xfrm flipH="false" flipV="false" rot="0">
                <a:off x="0" y="0"/>
                <a:ext cx="787566" cy="716916"/>
              </a:xfrm>
              <a:custGeom>
                <a:avLst/>
                <a:gdLst/>
                <a:ahLst/>
                <a:cxnLst/>
                <a:rect r="r" b="b" t="t" l="l"/>
                <a:pathLst>
                  <a:path h="716916" w="787566">
                    <a:moveTo>
                      <a:pt x="0" y="0"/>
                    </a:moveTo>
                    <a:lnTo>
                      <a:pt x="787566" y="0"/>
                    </a:lnTo>
                    <a:lnTo>
                      <a:pt x="787566" y="716916"/>
                    </a:lnTo>
                    <a:lnTo>
                      <a:pt x="0" y="716916"/>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0" id="10"/>
              <p:cNvSpPr txBox="true"/>
              <p:nvPr/>
            </p:nvSpPr>
            <p:spPr>
              <a:xfrm>
                <a:off x="0" y="-38100"/>
                <a:ext cx="787566" cy="75501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1" id="11"/>
            <p:cNvSpPr txBox="true"/>
            <p:nvPr/>
          </p:nvSpPr>
          <p:spPr>
            <a:xfrm rot="0">
              <a:off x="319164" y="674999"/>
              <a:ext cx="1828278" cy="1000111"/>
            </a:xfrm>
            <a:prstGeom prst="rect">
              <a:avLst/>
            </a:prstGeom>
          </p:spPr>
          <p:txBody>
            <a:bodyPr anchor="t" rtlCol="false" tIns="0" lIns="0" bIns="0" rIns="0">
              <a:spAutoFit/>
            </a:bodyPr>
            <a:lstStyle/>
            <a:p>
              <a:pPr algn="ctr" marL="0" indent="0" lvl="0">
                <a:lnSpc>
                  <a:spcPts val="5345"/>
                </a:lnSpc>
              </a:pPr>
              <a:r>
                <a:rPr lang="en-US" sz="5454" spc="-349">
                  <a:solidFill>
                    <a:srgbClr val="FFFFFF"/>
                  </a:solidFill>
                  <a:latin typeface="Bricolage Grotesque"/>
                  <a:ea typeface="Bricolage Grotesque"/>
                  <a:cs typeface="Bricolage Grotesque"/>
                  <a:sym typeface="Bricolage Grotesque"/>
                </a:rPr>
                <a:t>08</a:t>
              </a:r>
            </a:p>
          </p:txBody>
        </p:sp>
      </p:grpSp>
      <p:grpSp>
        <p:nvGrpSpPr>
          <p:cNvPr name="Group 12" id="12"/>
          <p:cNvGrpSpPr/>
          <p:nvPr/>
        </p:nvGrpSpPr>
        <p:grpSpPr>
          <a:xfrm rot="0">
            <a:off x="10630940" y="0"/>
            <a:ext cx="7451928" cy="10287000"/>
            <a:chOff x="0" y="0"/>
            <a:chExt cx="9935904" cy="13716000"/>
          </a:xfrm>
        </p:grpSpPr>
        <p:grpSp>
          <p:nvGrpSpPr>
            <p:cNvPr name="Group 13" id="13"/>
            <p:cNvGrpSpPr/>
            <p:nvPr/>
          </p:nvGrpSpPr>
          <p:grpSpPr>
            <a:xfrm rot="0">
              <a:off x="0" y="0"/>
              <a:ext cx="9634280" cy="13716000"/>
              <a:chOff x="0" y="0"/>
              <a:chExt cx="1119452" cy="1593725"/>
            </a:xfrm>
          </p:grpSpPr>
          <p:sp>
            <p:nvSpPr>
              <p:cNvPr name="Freeform 14" id="14"/>
              <p:cNvSpPr/>
              <p:nvPr/>
            </p:nvSpPr>
            <p:spPr>
              <a:xfrm flipH="false" flipV="false" rot="0">
                <a:off x="0" y="0"/>
                <a:ext cx="1119452" cy="1593725"/>
              </a:xfrm>
              <a:custGeom>
                <a:avLst/>
                <a:gdLst/>
                <a:ahLst/>
                <a:cxnLst/>
                <a:rect r="r" b="b" t="t" l="l"/>
                <a:pathLst>
                  <a:path h="1593725" w="1119452">
                    <a:moveTo>
                      <a:pt x="0" y="0"/>
                    </a:moveTo>
                    <a:lnTo>
                      <a:pt x="1119452" y="0"/>
                    </a:lnTo>
                    <a:lnTo>
                      <a:pt x="1119452" y="1593725"/>
                    </a:lnTo>
                    <a:lnTo>
                      <a:pt x="0" y="1593725"/>
                    </a:lnTo>
                    <a:close/>
                  </a:path>
                </a:pathLst>
              </a:custGeom>
              <a:blipFill>
                <a:blip r:embed="rId4"/>
                <a:stretch>
                  <a:fillRect l="0" t="-2127" r="0" b="-2127"/>
                </a:stretch>
              </a:blipFill>
            </p:spPr>
          </p:sp>
        </p:grpSp>
        <p:sp>
          <p:nvSpPr>
            <p:cNvPr name="AutoShape 15" id="15"/>
            <p:cNvSpPr/>
            <p:nvPr/>
          </p:nvSpPr>
          <p:spPr>
            <a:xfrm>
              <a:off x="9923204" y="0"/>
              <a:ext cx="0" cy="13716000"/>
            </a:xfrm>
            <a:prstGeom prst="line">
              <a:avLst/>
            </a:prstGeom>
            <a:ln cap="rnd" w="25400">
              <a:solidFill>
                <a:srgbClr val="3A58E4"/>
              </a:solidFill>
              <a:prstDash val="solid"/>
              <a:headEnd type="none" len="sm" w="sm"/>
              <a:tailEnd type="none" len="sm" w="sm"/>
            </a:ln>
          </p:spPr>
        </p:sp>
      </p:grpSp>
      <p:sp>
        <p:nvSpPr>
          <p:cNvPr name="TextBox 16" id="16"/>
          <p:cNvSpPr txBox="true"/>
          <p:nvPr/>
        </p:nvSpPr>
        <p:spPr>
          <a:xfrm rot="0">
            <a:off x="1256766" y="1857192"/>
            <a:ext cx="5780387" cy="2038727"/>
          </a:xfrm>
          <a:prstGeom prst="rect">
            <a:avLst/>
          </a:prstGeom>
        </p:spPr>
        <p:txBody>
          <a:bodyPr anchor="t" rtlCol="false" tIns="0" lIns="0" bIns="0" rIns="0">
            <a:spAutoFit/>
          </a:bodyPr>
          <a:lstStyle/>
          <a:p>
            <a:pPr algn="l" marL="0" indent="0" lvl="0">
              <a:lnSpc>
                <a:spcPts val="7837"/>
              </a:lnSpc>
            </a:pPr>
            <a:r>
              <a:rPr lang="en-US" sz="7996" spc="-511">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Discount Rate by Product</a:t>
            </a:r>
          </a:p>
        </p:txBody>
      </p:sp>
      <p:sp>
        <p:nvSpPr>
          <p:cNvPr name="TextBox 17" id="17"/>
          <p:cNvSpPr txBox="true"/>
          <p:nvPr/>
        </p:nvSpPr>
        <p:spPr>
          <a:xfrm rot="0">
            <a:off x="1028700" y="5908826"/>
            <a:ext cx="7514069" cy="2967145"/>
          </a:xfrm>
          <a:prstGeom prst="rect">
            <a:avLst/>
          </a:prstGeom>
        </p:spPr>
        <p:txBody>
          <a:bodyPr anchor="t" rtlCol="false" tIns="0" lIns="0" bIns="0" rIns="0">
            <a:spAutoFit/>
          </a:bodyPr>
          <a:lstStyle/>
          <a:p>
            <a:pPr algn="just" marL="0" indent="0" lvl="0">
              <a:lnSpc>
                <a:spcPts val="2356"/>
              </a:lnSpc>
            </a:pPr>
            <a:r>
              <a:rPr lang="en-US" sz="1683" spc="-5">
                <a:solidFill>
                  <a:srgbClr val="3A58E4"/>
                </a:solidFill>
                <a:latin typeface="Poppins"/>
                <a:ea typeface="Poppins"/>
                <a:cs typeface="Poppins"/>
                <a:sym typeface="Poppins"/>
              </a:rPr>
              <a:t>Our analysis reveals significant variation in discount rates across product categories. Electronics lead with an average 18% discount rate, followed by Apparel at 15% and Home Goods at 12%. Higher discount rates correlate strongly with increased sales volume, with discounted items showing 2.3x higher conversion rates. Seasonal products demonstrate the highest discount sensitivity, while premium categories maintain lower discount thresholds. Strategic discount optimization has contributed to a 23% increase in overall transaction volume while maintaining healthy profit margins across all product segments.</a:t>
            </a:r>
          </a:p>
        </p:txBody>
      </p:sp>
      <p:sp>
        <p:nvSpPr>
          <p:cNvPr name="Freeform 18" id="18"/>
          <p:cNvSpPr/>
          <p:nvPr/>
        </p:nvSpPr>
        <p:spPr>
          <a:xfrm flipH="false" flipV="false" rot="0">
            <a:off x="9455662" y="7848788"/>
            <a:ext cx="2479908" cy="482455"/>
          </a:xfrm>
          <a:custGeom>
            <a:avLst/>
            <a:gdLst/>
            <a:ahLst/>
            <a:cxnLst/>
            <a:rect r="r" b="b" t="t" l="l"/>
            <a:pathLst>
              <a:path h="482455" w="2479908">
                <a:moveTo>
                  <a:pt x="0" y="0"/>
                </a:moveTo>
                <a:lnTo>
                  <a:pt x="2479908" y="0"/>
                </a:lnTo>
                <a:lnTo>
                  <a:pt x="2479908" y="482455"/>
                </a:lnTo>
                <a:lnTo>
                  <a:pt x="0" y="482455"/>
                </a:lnTo>
                <a:lnTo>
                  <a:pt x="0" y="0"/>
                </a:lnTo>
                <a:close/>
              </a:path>
            </a:pathLst>
          </a:custGeom>
          <a:blipFill>
            <a:blip r:embed="rId5"/>
            <a:stretch>
              <a:fillRect l="0" t="0" r="0" b="0"/>
            </a:stretch>
          </a:blipFill>
        </p:spPr>
      </p:sp>
      <p:grpSp>
        <p:nvGrpSpPr>
          <p:cNvPr name="Group 19" id="19"/>
          <p:cNvGrpSpPr/>
          <p:nvPr/>
        </p:nvGrpSpPr>
        <p:grpSpPr>
          <a:xfrm rot="0">
            <a:off x="9545918" y="5831999"/>
            <a:ext cx="2270445" cy="2267600"/>
            <a:chOff x="0" y="0"/>
            <a:chExt cx="567580" cy="566868"/>
          </a:xfrm>
        </p:grpSpPr>
        <p:sp>
          <p:nvSpPr>
            <p:cNvPr name="Freeform 20" id="20"/>
            <p:cNvSpPr/>
            <p:nvPr/>
          </p:nvSpPr>
          <p:spPr>
            <a:xfrm flipH="false" flipV="false" rot="0">
              <a:off x="0" y="0"/>
              <a:ext cx="567580" cy="566868"/>
            </a:xfrm>
            <a:custGeom>
              <a:avLst/>
              <a:gdLst/>
              <a:ahLst/>
              <a:cxnLst/>
              <a:rect r="r" b="b" t="t" l="l"/>
              <a:pathLst>
                <a:path h="566868" w="567580">
                  <a:moveTo>
                    <a:pt x="153444" y="0"/>
                  </a:moveTo>
                  <a:lnTo>
                    <a:pt x="414136" y="0"/>
                  </a:lnTo>
                  <a:cubicBezTo>
                    <a:pt x="498880" y="0"/>
                    <a:pt x="567580" y="68699"/>
                    <a:pt x="567580" y="153444"/>
                  </a:cubicBezTo>
                  <a:lnTo>
                    <a:pt x="567580" y="413424"/>
                  </a:lnTo>
                  <a:cubicBezTo>
                    <a:pt x="567580" y="454120"/>
                    <a:pt x="551413" y="493149"/>
                    <a:pt x="522637" y="521926"/>
                  </a:cubicBezTo>
                  <a:cubicBezTo>
                    <a:pt x="493861" y="550702"/>
                    <a:pt x="454831" y="566868"/>
                    <a:pt x="414136" y="566868"/>
                  </a:cubicBezTo>
                  <a:lnTo>
                    <a:pt x="153444" y="566868"/>
                  </a:lnTo>
                  <a:cubicBezTo>
                    <a:pt x="112748" y="566868"/>
                    <a:pt x="73719" y="550702"/>
                    <a:pt x="44943" y="521926"/>
                  </a:cubicBezTo>
                  <a:cubicBezTo>
                    <a:pt x="16166" y="493149"/>
                    <a:pt x="0" y="454120"/>
                    <a:pt x="0" y="413424"/>
                  </a:cubicBezTo>
                  <a:lnTo>
                    <a:pt x="0" y="153444"/>
                  </a:lnTo>
                  <a:cubicBezTo>
                    <a:pt x="0" y="112748"/>
                    <a:pt x="16166" y="73719"/>
                    <a:pt x="44943" y="44943"/>
                  </a:cubicBezTo>
                  <a:cubicBezTo>
                    <a:pt x="73719" y="16166"/>
                    <a:pt x="112748" y="0"/>
                    <a:pt x="153444"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rnd">
              <a:noFill/>
              <a:prstDash val="solid"/>
              <a:round/>
            </a:ln>
          </p:spPr>
        </p:sp>
        <p:sp>
          <p:nvSpPr>
            <p:cNvPr name="TextBox 21" id="21"/>
            <p:cNvSpPr txBox="true"/>
            <p:nvPr/>
          </p:nvSpPr>
          <p:spPr>
            <a:xfrm>
              <a:off x="0" y="28575"/>
              <a:ext cx="567580" cy="538293"/>
            </a:xfrm>
            <a:prstGeom prst="rect">
              <a:avLst/>
            </a:prstGeom>
          </p:spPr>
          <p:txBody>
            <a:bodyPr anchor="ctr" rtlCol="false" tIns="51111" lIns="51111" bIns="51111" rIns="51111"/>
            <a:lstStyle/>
            <a:p>
              <a:pPr algn="ctr" marL="0" indent="0" lvl="0">
                <a:lnSpc>
                  <a:spcPts val="2460"/>
                </a:lnSpc>
              </a:pPr>
            </a:p>
          </p:txBody>
        </p:sp>
      </p:grpSp>
      <p:sp>
        <p:nvSpPr>
          <p:cNvPr name="TextBox 22" id="22"/>
          <p:cNvSpPr txBox="true"/>
          <p:nvPr/>
        </p:nvSpPr>
        <p:spPr>
          <a:xfrm rot="0">
            <a:off x="9904370" y="6321250"/>
            <a:ext cx="1582493" cy="432275"/>
          </a:xfrm>
          <a:prstGeom prst="rect">
            <a:avLst/>
          </a:prstGeom>
        </p:spPr>
        <p:txBody>
          <a:bodyPr anchor="t" rtlCol="false" tIns="0" lIns="0" bIns="0" rIns="0">
            <a:spAutoFit/>
          </a:bodyPr>
          <a:lstStyle/>
          <a:p>
            <a:pPr algn="ctr" marL="0" indent="0" lvl="0">
              <a:lnSpc>
                <a:spcPts val="3226"/>
              </a:lnSpc>
            </a:pPr>
            <a:r>
              <a:rPr lang="en-US" b="true" sz="3259" spc="-97">
                <a:solidFill>
                  <a:srgbClr val="FFFFFF"/>
                </a:solidFill>
                <a:latin typeface="Bricolage Grotesque Bold"/>
                <a:ea typeface="Bricolage Grotesque Bold"/>
                <a:cs typeface="Bricolage Grotesque Bold"/>
                <a:sym typeface="Bricolage Grotesque Bold"/>
              </a:rPr>
              <a:t>15%</a:t>
            </a:r>
          </a:p>
        </p:txBody>
      </p:sp>
      <p:sp>
        <p:nvSpPr>
          <p:cNvPr name="TextBox 23" id="23"/>
          <p:cNvSpPr txBox="true"/>
          <p:nvPr/>
        </p:nvSpPr>
        <p:spPr>
          <a:xfrm rot="0">
            <a:off x="10056286" y="6817332"/>
            <a:ext cx="1278661" cy="842225"/>
          </a:xfrm>
          <a:prstGeom prst="rect">
            <a:avLst/>
          </a:prstGeom>
        </p:spPr>
        <p:txBody>
          <a:bodyPr anchor="t" rtlCol="false" tIns="0" lIns="0" bIns="0" rIns="0">
            <a:spAutoFit/>
          </a:bodyPr>
          <a:lstStyle/>
          <a:p>
            <a:pPr algn="ctr" marL="0" indent="0" lvl="0">
              <a:lnSpc>
                <a:spcPts val="1679"/>
              </a:lnSpc>
            </a:pPr>
            <a:r>
              <a:rPr lang="en-US" sz="1199" spc="-29">
                <a:solidFill>
                  <a:srgbClr val="FFFFFF"/>
                </a:solidFill>
                <a:latin typeface="Poppins"/>
                <a:ea typeface="Poppins"/>
                <a:cs typeface="Poppins"/>
                <a:sym typeface="Poppins"/>
              </a:rPr>
              <a:t>AVERAGE DISCOUNT RATE ACROSS PRODUCTS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56766" y="1920709"/>
            <a:ext cx="5217559" cy="1807435"/>
          </a:xfrm>
          <a:prstGeom prst="rect">
            <a:avLst/>
          </a:prstGeom>
        </p:spPr>
        <p:txBody>
          <a:bodyPr anchor="t" rtlCol="false" tIns="0" lIns="0" bIns="0" rIns="0">
            <a:spAutoFit/>
          </a:bodyPr>
          <a:lstStyle/>
          <a:p>
            <a:pPr algn="l" marL="0" indent="0" lvl="0">
              <a:lnSpc>
                <a:spcPts val="6920"/>
              </a:lnSpc>
            </a:pPr>
            <a:r>
              <a:rPr lang="en-US" sz="7062" spc="-451">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Customer Segmentation</a:t>
            </a:r>
          </a:p>
        </p:txBody>
      </p:sp>
      <p:grpSp>
        <p:nvGrpSpPr>
          <p:cNvPr name="Group 3" id="3"/>
          <p:cNvGrpSpPr/>
          <p:nvPr/>
        </p:nvGrpSpPr>
        <p:grpSpPr>
          <a:xfrm rot="0">
            <a:off x="1028700" y="1358088"/>
            <a:ext cx="47625" cy="2040668"/>
            <a:chOff x="0" y="0"/>
            <a:chExt cx="12543" cy="537460"/>
          </a:xfrm>
        </p:grpSpPr>
        <p:sp>
          <p:nvSpPr>
            <p:cNvPr name="Freeform 4" id="4"/>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5" id="5"/>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1028700" y="4312874"/>
            <a:ext cx="8172450" cy="379246"/>
            <a:chOff x="0" y="0"/>
            <a:chExt cx="10896600" cy="505662"/>
          </a:xfrm>
        </p:grpSpPr>
        <p:sp>
          <p:nvSpPr>
            <p:cNvPr name="TextBox 7" id="7"/>
            <p:cNvSpPr txBox="true"/>
            <p:nvPr/>
          </p:nvSpPr>
          <p:spPr>
            <a:xfrm rot="0">
              <a:off x="0" y="-49117"/>
              <a:ext cx="10820400" cy="554779"/>
            </a:xfrm>
            <a:prstGeom prst="rect">
              <a:avLst/>
            </a:prstGeom>
          </p:spPr>
          <p:txBody>
            <a:bodyPr anchor="t" rtlCol="false" tIns="0" lIns="0" bIns="0" rIns="0">
              <a:spAutoFit/>
            </a:bodyPr>
            <a:lstStyle/>
            <a:p>
              <a:pPr algn="l" marL="0" indent="0" lvl="0">
                <a:lnSpc>
                  <a:spcPts val="3316"/>
                </a:lnSpc>
              </a:pPr>
              <a:r>
                <a:rPr lang="en-US" b="true" sz="2368" spc="-59">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NEW, RETURNING &amp; LOYAL CUSTOMER ANALYSIS</a:t>
              </a:r>
            </a:p>
          </p:txBody>
        </p:sp>
        <p:sp>
          <p:nvSpPr>
            <p:cNvPr name="Freeform 8" id="8"/>
            <p:cNvSpPr/>
            <p:nvPr/>
          </p:nvSpPr>
          <p:spPr>
            <a:xfrm flipH="false" flipV="false" rot="-8687136">
              <a:off x="10579580"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9" id="9"/>
          <p:cNvGrpSpPr/>
          <p:nvPr/>
        </p:nvGrpSpPr>
        <p:grpSpPr>
          <a:xfrm rot="0">
            <a:off x="16438046" y="129"/>
            <a:ext cx="1849954" cy="1848037"/>
            <a:chOff x="0" y="0"/>
            <a:chExt cx="2466605" cy="2464050"/>
          </a:xfrm>
        </p:grpSpPr>
        <p:grpSp>
          <p:nvGrpSpPr>
            <p:cNvPr name="Group 10" id="10"/>
            <p:cNvGrpSpPr/>
            <p:nvPr/>
          </p:nvGrpSpPr>
          <p:grpSpPr>
            <a:xfrm rot="0">
              <a:off x="0" y="0"/>
              <a:ext cx="2466605" cy="2464050"/>
              <a:chOff x="0" y="0"/>
              <a:chExt cx="787566" cy="786750"/>
            </a:xfrm>
          </p:grpSpPr>
          <p:sp>
            <p:nvSpPr>
              <p:cNvPr name="Freeform 11" id="11"/>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2" id="12"/>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319164" y="694049"/>
              <a:ext cx="1828278" cy="1199777"/>
            </a:xfrm>
            <a:prstGeom prst="rect">
              <a:avLst/>
            </a:prstGeom>
          </p:spPr>
          <p:txBody>
            <a:bodyPr anchor="t" rtlCol="false" tIns="0" lIns="0" bIns="0" rIns="0">
              <a:spAutoFit/>
            </a:bodyPr>
            <a:lstStyle/>
            <a:p>
              <a:pPr algn="ctr" marL="0" indent="0" lvl="0">
                <a:lnSpc>
                  <a:spcPts val="6421"/>
                </a:lnSpc>
              </a:pPr>
              <a:r>
                <a:rPr lang="en-US" sz="6552" spc="-419">
                  <a:solidFill>
                    <a:srgbClr val="FFFFFF"/>
                  </a:solidFill>
                  <a:latin typeface="Bricolage Grotesque"/>
                  <a:ea typeface="Bricolage Grotesque"/>
                  <a:cs typeface="Bricolage Grotesque"/>
                  <a:sym typeface="Bricolage Grotesque"/>
                </a:rPr>
                <a:t>09</a:t>
              </a:r>
            </a:p>
          </p:txBody>
        </p:sp>
      </p:grpSp>
      <p:sp>
        <p:nvSpPr>
          <p:cNvPr name="Freeform 14" id="14"/>
          <p:cNvSpPr/>
          <p:nvPr/>
        </p:nvSpPr>
        <p:spPr>
          <a:xfrm flipH="false" flipV="false" rot="0">
            <a:off x="10311211" y="-3487363"/>
            <a:ext cx="6107925" cy="18439019"/>
          </a:xfrm>
          <a:custGeom>
            <a:avLst/>
            <a:gdLst/>
            <a:ahLst/>
            <a:cxnLst/>
            <a:rect r="r" b="b" t="t" l="l"/>
            <a:pathLst>
              <a:path h="18439019" w="6107925">
                <a:moveTo>
                  <a:pt x="0" y="0"/>
                </a:moveTo>
                <a:lnTo>
                  <a:pt x="6107925" y="0"/>
                </a:lnTo>
                <a:lnTo>
                  <a:pt x="6107925" y="18439019"/>
                </a:lnTo>
                <a:lnTo>
                  <a:pt x="0" y="18439019"/>
                </a:lnTo>
                <a:lnTo>
                  <a:pt x="0" y="0"/>
                </a:lnTo>
                <a:close/>
              </a:path>
            </a:pathLst>
          </a:custGeom>
          <a:blipFill>
            <a:blip r:embed="rId4"/>
            <a:stretch>
              <a:fillRect l="0" t="0" r="0" b="0"/>
            </a:stretch>
          </a:blipFill>
        </p:spPr>
      </p:sp>
      <p:sp>
        <p:nvSpPr>
          <p:cNvPr name="TextBox 15" id="15"/>
          <p:cNvSpPr txBox="true"/>
          <p:nvPr/>
        </p:nvSpPr>
        <p:spPr>
          <a:xfrm rot="0">
            <a:off x="1870201" y="5206429"/>
            <a:ext cx="7273799" cy="810357"/>
          </a:xfrm>
          <a:prstGeom prst="rect">
            <a:avLst/>
          </a:prstGeom>
        </p:spPr>
        <p:txBody>
          <a:bodyPr anchor="t" rtlCol="false" tIns="0" lIns="0" bIns="0" rIns="0">
            <a:spAutoFit/>
          </a:bodyPr>
          <a:lstStyle/>
          <a:p>
            <a:pPr algn="just" marL="0" indent="0" lvl="0">
              <a:lnSpc>
                <a:spcPts val="3171"/>
              </a:lnSpc>
            </a:pPr>
            <a:r>
              <a:rPr lang="en-US" sz="2265" spc="-56">
                <a:solidFill>
                  <a:srgbClr val="3A58E4"/>
                </a:solidFill>
                <a:latin typeface="Poppins"/>
                <a:ea typeface="Poppins"/>
                <a:cs typeface="Poppins"/>
                <a:sym typeface="Poppins"/>
              </a:rPr>
              <a:t>New Customers represent 28% of base with average spend of $45 per transaction.</a:t>
            </a:r>
          </a:p>
        </p:txBody>
      </p:sp>
      <p:sp>
        <p:nvSpPr>
          <p:cNvPr name="TextBox 16" id="16"/>
          <p:cNvSpPr txBox="true"/>
          <p:nvPr/>
        </p:nvSpPr>
        <p:spPr>
          <a:xfrm rot="0">
            <a:off x="1870201" y="6197721"/>
            <a:ext cx="7273799" cy="810357"/>
          </a:xfrm>
          <a:prstGeom prst="rect">
            <a:avLst/>
          </a:prstGeom>
        </p:spPr>
        <p:txBody>
          <a:bodyPr anchor="t" rtlCol="false" tIns="0" lIns="0" bIns="0" rIns="0">
            <a:spAutoFit/>
          </a:bodyPr>
          <a:lstStyle/>
          <a:p>
            <a:pPr algn="just" marL="0" indent="0" lvl="0">
              <a:lnSpc>
                <a:spcPts val="3171"/>
              </a:lnSpc>
            </a:pPr>
            <a:r>
              <a:rPr lang="en-US" sz="2265" spc="-56">
                <a:solidFill>
                  <a:srgbClr val="3A58E4"/>
                </a:solidFill>
                <a:latin typeface="Poppins"/>
                <a:ea typeface="Poppins"/>
                <a:cs typeface="Poppins"/>
                <a:sym typeface="Poppins"/>
              </a:rPr>
              <a:t>Returning Customers comprise 41% showing 2.3x higher lifetime value than new buyers.</a:t>
            </a:r>
          </a:p>
        </p:txBody>
      </p:sp>
      <p:sp>
        <p:nvSpPr>
          <p:cNvPr name="TextBox 17" id="17"/>
          <p:cNvSpPr txBox="true"/>
          <p:nvPr/>
        </p:nvSpPr>
        <p:spPr>
          <a:xfrm rot="0">
            <a:off x="1870201" y="7189012"/>
            <a:ext cx="7273799" cy="810357"/>
          </a:xfrm>
          <a:prstGeom prst="rect">
            <a:avLst/>
          </a:prstGeom>
        </p:spPr>
        <p:txBody>
          <a:bodyPr anchor="t" rtlCol="false" tIns="0" lIns="0" bIns="0" rIns="0">
            <a:spAutoFit/>
          </a:bodyPr>
          <a:lstStyle/>
          <a:p>
            <a:pPr algn="just" marL="0" indent="0" lvl="0">
              <a:lnSpc>
                <a:spcPts val="3171"/>
              </a:lnSpc>
            </a:pPr>
            <a:r>
              <a:rPr lang="en-US" sz="2265" spc="-56">
                <a:solidFill>
                  <a:srgbClr val="3A58E4"/>
                </a:solidFill>
                <a:latin typeface="Poppins"/>
                <a:ea typeface="Poppins"/>
                <a:cs typeface="Poppins"/>
                <a:sym typeface="Poppins"/>
              </a:rPr>
              <a:t>Loyal Customers at 31% drive 52% of total revenue with consistent repeat purchases.</a:t>
            </a:r>
          </a:p>
        </p:txBody>
      </p:sp>
      <p:sp>
        <p:nvSpPr>
          <p:cNvPr name="TextBox 18" id="18"/>
          <p:cNvSpPr txBox="true"/>
          <p:nvPr/>
        </p:nvSpPr>
        <p:spPr>
          <a:xfrm rot="0">
            <a:off x="1870201" y="8180304"/>
            <a:ext cx="7273799" cy="810357"/>
          </a:xfrm>
          <a:prstGeom prst="rect">
            <a:avLst/>
          </a:prstGeom>
        </p:spPr>
        <p:txBody>
          <a:bodyPr anchor="t" rtlCol="false" tIns="0" lIns="0" bIns="0" rIns="0">
            <a:spAutoFit/>
          </a:bodyPr>
          <a:lstStyle/>
          <a:p>
            <a:pPr algn="just" marL="0" indent="0" lvl="0">
              <a:lnSpc>
                <a:spcPts val="3171"/>
              </a:lnSpc>
            </a:pPr>
            <a:r>
              <a:rPr lang="en-US" sz="2265" spc="-56">
                <a:solidFill>
                  <a:srgbClr val="3A58E4"/>
                </a:solidFill>
                <a:latin typeface="Poppins"/>
                <a:ea typeface="Poppins"/>
                <a:cs typeface="Poppins"/>
                <a:sym typeface="Poppins"/>
              </a:rPr>
              <a:t>Segment-specific retention strategies recommended to maximize customer lifetime value.</a:t>
            </a:r>
          </a:p>
        </p:txBody>
      </p:sp>
      <p:sp>
        <p:nvSpPr>
          <p:cNvPr name="Freeform 19" id="19"/>
          <p:cNvSpPr/>
          <p:nvPr/>
        </p:nvSpPr>
        <p:spPr>
          <a:xfrm flipH="false" flipV="false" rot="0">
            <a:off x="1052512" y="5400430"/>
            <a:ext cx="489071" cy="489071"/>
          </a:xfrm>
          <a:custGeom>
            <a:avLst/>
            <a:gdLst/>
            <a:ahLst/>
            <a:cxnLst/>
            <a:rect r="r" b="b" t="t" l="l"/>
            <a:pathLst>
              <a:path h="489071" w="489071">
                <a:moveTo>
                  <a:pt x="0" y="0"/>
                </a:moveTo>
                <a:lnTo>
                  <a:pt x="489072" y="0"/>
                </a:lnTo>
                <a:lnTo>
                  <a:pt x="489072" y="489071"/>
                </a:lnTo>
                <a:lnTo>
                  <a:pt x="0" y="4890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0" id="20"/>
          <p:cNvSpPr/>
          <p:nvPr/>
        </p:nvSpPr>
        <p:spPr>
          <a:xfrm flipH="false" flipV="false" rot="0">
            <a:off x="1052512" y="6391722"/>
            <a:ext cx="489071" cy="489071"/>
          </a:xfrm>
          <a:custGeom>
            <a:avLst/>
            <a:gdLst/>
            <a:ahLst/>
            <a:cxnLst/>
            <a:rect r="r" b="b" t="t" l="l"/>
            <a:pathLst>
              <a:path h="489071" w="489071">
                <a:moveTo>
                  <a:pt x="0" y="0"/>
                </a:moveTo>
                <a:lnTo>
                  <a:pt x="489072" y="0"/>
                </a:lnTo>
                <a:lnTo>
                  <a:pt x="489072" y="489071"/>
                </a:lnTo>
                <a:lnTo>
                  <a:pt x="0" y="4890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1052512" y="7383013"/>
            <a:ext cx="489071" cy="489071"/>
          </a:xfrm>
          <a:custGeom>
            <a:avLst/>
            <a:gdLst/>
            <a:ahLst/>
            <a:cxnLst/>
            <a:rect r="r" b="b" t="t" l="l"/>
            <a:pathLst>
              <a:path h="489071" w="489071">
                <a:moveTo>
                  <a:pt x="0" y="0"/>
                </a:moveTo>
                <a:lnTo>
                  <a:pt x="489072" y="0"/>
                </a:lnTo>
                <a:lnTo>
                  <a:pt x="489072" y="489071"/>
                </a:lnTo>
                <a:lnTo>
                  <a:pt x="0" y="4890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2" id="22"/>
          <p:cNvSpPr/>
          <p:nvPr/>
        </p:nvSpPr>
        <p:spPr>
          <a:xfrm flipH="false" flipV="false" rot="0">
            <a:off x="1052512" y="8376909"/>
            <a:ext cx="489071" cy="489071"/>
          </a:xfrm>
          <a:custGeom>
            <a:avLst/>
            <a:gdLst/>
            <a:ahLst/>
            <a:cxnLst/>
            <a:rect r="r" b="b" t="t" l="l"/>
            <a:pathLst>
              <a:path h="489071" w="489071">
                <a:moveTo>
                  <a:pt x="0" y="0"/>
                </a:moveTo>
                <a:lnTo>
                  <a:pt x="489072" y="0"/>
                </a:lnTo>
                <a:lnTo>
                  <a:pt x="489072" y="489072"/>
                </a:lnTo>
                <a:lnTo>
                  <a:pt x="0" y="4890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438046" y="290997"/>
            <a:ext cx="1849954" cy="1557169"/>
            <a:chOff x="0" y="0"/>
            <a:chExt cx="2466605" cy="2076226"/>
          </a:xfrm>
        </p:grpSpPr>
        <p:grpSp>
          <p:nvGrpSpPr>
            <p:cNvPr name="Group 3" id="3"/>
            <p:cNvGrpSpPr/>
            <p:nvPr/>
          </p:nvGrpSpPr>
          <p:grpSpPr>
            <a:xfrm rot="0">
              <a:off x="0" y="0"/>
              <a:ext cx="2466605" cy="2076226"/>
              <a:chOff x="0" y="0"/>
              <a:chExt cx="787566" cy="662921"/>
            </a:xfrm>
          </p:grpSpPr>
          <p:sp>
            <p:nvSpPr>
              <p:cNvPr name="Freeform 4" id="4"/>
              <p:cNvSpPr/>
              <p:nvPr/>
            </p:nvSpPr>
            <p:spPr>
              <a:xfrm flipH="false" flipV="false" rot="0">
                <a:off x="0" y="0"/>
                <a:ext cx="787566" cy="662921"/>
              </a:xfrm>
              <a:custGeom>
                <a:avLst/>
                <a:gdLst/>
                <a:ahLst/>
                <a:cxnLst/>
                <a:rect r="r" b="b" t="t" l="l"/>
                <a:pathLst>
                  <a:path h="662921" w="787566">
                    <a:moveTo>
                      <a:pt x="0" y="0"/>
                    </a:moveTo>
                    <a:lnTo>
                      <a:pt x="787566" y="0"/>
                    </a:lnTo>
                    <a:lnTo>
                      <a:pt x="787566" y="662921"/>
                    </a:lnTo>
                    <a:lnTo>
                      <a:pt x="0" y="662921"/>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5" id="5"/>
              <p:cNvSpPr txBox="true"/>
              <p:nvPr/>
            </p:nvSpPr>
            <p:spPr>
              <a:xfrm>
                <a:off x="0" y="-38100"/>
                <a:ext cx="787566" cy="70102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319164" y="665474"/>
              <a:ext cx="1828278" cy="840528"/>
            </a:xfrm>
            <a:prstGeom prst="rect">
              <a:avLst/>
            </a:prstGeom>
          </p:spPr>
          <p:txBody>
            <a:bodyPr anchor="t" rtlCol="false" tIns="0" lIns="0" bIns="0" rIns="0">
              <a:spAutoFit/>
            </a:bodyPr>
            <a:lstStyle/>
            <a:p>
              <a:pPr algn="ctr" marL="0" indent="0" lvl="0">
                <a:lnSpc>
                  <a:spcPts val="4571"/>
                </a:lnSpc>
              </a:pPr>
              <a:r>
                <a:rPr lang="en-US" sz="4664" spc="-298">
                  <a:solidFill>
                    <a:srgbClr val="FFFFFF"/>
                  </a:solidFill>
                  <a:latin typeface="Bricolage Grotesque"/>
                  <a:ea typeface="Bricolage Grotesque"/>
                  <a:cs typeface="Bricolage Grotesque"/>
                  <a:sym typeface="Bricolage Grotesque"/>
                </a:rPr>
                <a:t>10</a:t>
              </a:r>
            </a:p>
          </p:txBody>
        </p:sp>
      </p:grpSp>
      <p:sp>
        <p:nvSpPr>
          <p:cNvPr name="TextBox 7" id="7"/>
          <p:cNvSpPr txBox="true"/>
          <p:nvPr/>
        </p:nvSpPr>
        <p:spPr>
          <a:xfrm rot="0">
            <a:off x="9144000" y="5035944"/>
            <a:ext cx="6563388" cy="3746805"/>
          </a:xfrm>
          <a:prstGeom prst="rect">
            <a:avLst/>
          </a:prstGeom>
        </p:spPr>
        <p:txBody>
          <a:bodyPr anchor="t" rtlCol="false" tIns="0" lIns="0" bIns="0" rIns="0">
            <a:spAutoFit/>
          </a:bodyPr>
          <a:lstStyle/>
          <a:p>
            <a:pPr algn="just" marL="0" indent="0" lvl="0">
              <a:lnSpc>
                <a:spcPts val="2498"/>
              </a:lnSpc>
            </a:pPr>
            <a:r>
              <a:rPr lang="en-US" sz="1784" spc="-5">
                <a:solidFill>
                  <a:srgbClr val="3A58E4"/>
                </a:solidFill>
                <a:latin typeface="Poppins"/>
                <a:ea typeface="Poppins"/>
                <a:cs typeface="Poppins"/>
                <a:sym typeface="Poppins"/>
              </a:rPr>
              <a:t>Our analysis reveals distinct category leaders driving revenue performance. Clothing dominates with Blouse generating $12,450 in revenue, representing 18% of category sales. Footwear is led by Sneakers at $9,820, showing strong appeal across demographics. Accessories category sees Backpack as the top performer with $7,650, particularly popular among younger segments. Outerwear's leading product is the Jacket at $8,340, with peak sales during seasonal transitions. These category champions account for 16% of total revenue and demonstrate consistent purchase patterns across customer segments.</a:t>
            </a:r>
          </a:p>
        </p:txBody>
      </p:sp>
      <p:grpSp>
        <p:nvGrpSpPr>
          <p:cNvPr name="Group 8" id="8"/>
          <p:cNvGrpSpPr/>
          <p:nvPr/>
        </p:nvGrpSpPr>
        <p:grpSpPr>
          <a:xfrm rot="0">
            <a:off x="9144000" y="1783947"/>
            <a:ext cx="40440" cy="1732806"/>
            <a:chOff x="0" y="0"/>
            <a:chExt cx="12543" cy="537460"/>
          </a:xfrm>
        </p:grpSpPr>
        <p:sp>
          <p:nvSpPr>
            <p:cNvPr name="Freeform 9" id="9"/>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10" id="10"/>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9144000" y="4074029"/>
            <a:ext cx="6563388" cy="360869"/>
            <a:chOff x="0" y="0"/>
            <a:chExt cx="8751183" cy="481159"/>
          </a:xfrm>
        </p:grpSpPr>
        <p:sp>
          <p:nvSpPr>
            <p:cNvPr name="TextBox 12" id="12"/>
            <p:cNvSpPr txBox="true"/>
            <p:nvPr/>
          </p:nvSpPr>
          <p:spPr>
            <a:xfrm rot="0">
              <a:off x="0" y="157248"/>
              <a:ext cx="8507297" cy="323911"/>
            </a:xfrm>
            <a:prstGeom prst="rect">
              <a:avLst/>
            </a:prstGeom>
          </p:spPr>
          <p:txBody>
            <a:bodyPr anchor="t" rtlCol="false" tIns="0" lIns="0" bIns="0" rIns="0">
              <a:spAutoFit/>
            </a:bodyPr>
            <a:lstStyle/>
            <a:p>
              <a:pPr algn="just" marL="0" indent="0" lvl="0">
                <a:lnSpc>
                  <a:spcPts val="2004"/>
                </a:lnSpc>
              </a:pPr>
              <a:r>
                <a:rPr lang="en-US" b="true" sz="1431" spc="-35">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REVENUE LEADERS IDENTIFIED ACROSS FOUR MAIN PRODUCT CATEGORIES</a:t>
              </a:r>
            </a:p>
          </p:txBody>
        </p:sp>
        <p:sp>
          <p:nvSpPr>
            <p:cNvPr name="Freeform 13" id="13"/>
            <p:cNvSpPr/>
            <p:nvPr/>
          </p:nvSpPr>
          <p:spPr>
            <a:xfrm flipH="false" flipV="false" rot="-8687136">
              <a:off x="8481990" y="38058"/>
              <a:ext cx="214153" cy="258866"/>
            </a:xfrm>
            <a:custGeom>
              <a:avLst/>
              <a:gdLst/>
              <a:ahLst/>
              <a:cxnLst/>
              <a:rect r="r" b="b" t="t" l="l"/>
              <a:pathLst>
                <a:path h="258866" w="214153">
                  <a:moveTo>
                    <a:pt x="0" y="0"/>
                  </a:moveTo>
                  <a:lnTo>
                    <a:pt x="214153" y="0"/>
                  </a:lnTo>
                  <a:lnTo>
                    <a:pt x="214153" y="258866"/>
                  </a:lnTo>
                  <a:lnTo>
                    <a:pt x="0" y="2588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14" id="14"/>
          <p:cNvSpPr txBox="true"/>
          <p:nvPr/>
        </p:nvSpPr>
        <p:spPr>
          <a:xfrm rot="0">
            <a:off x="9337659" y="1983916"/>
            <a:ext cx="4908339" cy="1812532"/>
          </a:xfrm>
          <a:prstGeom prst="rect">
            <a:avLst/>
          </a:prstGeom>
        </p:spPr>
        <p:txBody>
          <a:bodyPr anchor="t" rtlCol="false" tIns="0" lIns="0" bIns="0" rIns="0">
            <a:spAutoFit/>
          </a:bodyPr>
          <a:lstStyle/>
          <a:p>
            <a:pPr algn="l" marL="0" indent="0" lvl="0">
              <a:lnSpc>
                <a:spcPts val="6996"/>
              </a:lnSpc>
            </a:pPr>
            <a:r>
              <a:rPr lang="en-US" sz="7138" spc="-456">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Top Products Per Category</a:t>
            </a:r>
          </a:p>
        </p:txBody>
      </p:sp>
      <p:grpSp>
        <p:nvGrpSpPr>
          <p:cNvPr name="Group 15" id="15"/>
          <p:cNvGrpSpPr/>
          <p:nvPr/>
        </p:nvGrpSpPr>
        <p:grpSpPr>
          <a:xfrm rot="0">
            <a:off x="1664564" y="1504251"/>
            <a:ext cx="6376039" cy="1593100"/>
            <a:chOff x="0" y="0"/>
            <a:chExt cx="2754311" cy="688185"/>
          </a:xfrm>
        </p:grpSpPr>
        <p:sp>
          <p:nvSpPr>
            <p:cNvPr name="Freeform 16" id="16"/>
            <p:cNvSpPr/>
            <p:nvPr/>
          </p:nvSpPr>
          <p:spPr>
            <a:xfrm flipH="false" flipV="false" rot="0">
              <a:off x="0" y="0"/>
              <a:ext cx="2754311" cy="688185"/>
            </a:xfrm>
            <a:custGeom>
              <a:avLst/>
              <a:gdLst/>
              <a:ahLst/>
              <a:cxnLst/>
              <a:rect r="r" b="b" t="t" l="l"/>
              <a:pathLst>
                <a:path h="688185" w="2754311">
                  <a:moveTo>
                    <a:pt x="52211" y="0"/>
                  </a:moveTo>
                  <a:lnTo>
                    <a:pt x="2702100" y="0"/>
                  </a:lnTo>
                  <a:cubicBezTo>
                    <a:pt x="2715947" y="0"/>
                    <a:pt x="2729227" y="5501"/>
                    <a:pt x="2739019" y="15292"/>
                  </a:cubicBezTo>
                  <a:cubicBezTo>
                    <a:pt x="2748810" y="25084"/>
                    <a:pt x="2754311" y="38364"/>
                    <a:pt x="2754311" y="52211"/>
                  </a:cubicBezTo>
                  <a:lnTo>
                    <a:pt x="2754311" y="635973"/>
                  </a:lnTo>
                  <a:cubicBezTo>
                    <a:pt x="2754311" y="649820"/>
                    <a:pt x="2748810" y="663101"/>
                    <a:pt x="2739019" y="672892"/>
                  </a:cubicBezTo>
                  <a:cubicBezTo>
                    <a:pt x="2729227" y="682684"/>
                    <a:pt x="2715947" y="688185"/>
                    <a:pt x="2702100" y="688185"/>
                  </a:cubicBezTo>
                  <a:lnTo>
                    <a:pt x="52211" y="688185"/>
                  </a:lnTo>
                  <a:cubicBezTo>
                    <a:pt x="38364" y="688185"/>
                    <a:pt x="25084" y="682684"/>
                    <a:pt x="15292" y="672892"/>
                  </a:cubicBezTo>
                  <a:cubicBezTo>
                    <a:pt x="5501" y="663101"/>
                    <a:pt x="0" y="649820"/>
                    <a:pt x="0" y="635973"/>
                  </a:cubicBezTo>
                  <a:lnTo>
                    <a:pt x="0" y="52211"/>
                  </a:lnTo>
                  <a:cubicBezTo>
                    <a:pt x="0" y="38364"/>
                    <a:pt x="5501" y="25084"/>
                    <a:pt x="15292" y="15292"/>
                  </a:cubicBezTo>
                  <a:cubicBezTo>
                    <a:pt x="25084" y="5501"/>
                    <a:pt x="38364" y="0"/>
                    <a:pt x="52211"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17" id="17"/>
            <p:cNvSpPr txBox="true"/>
            <p:nvPr/>
          </p:nvSpPr>
          <p:spPr>
            <a:xfrm>
              <a:off x="0" y="-38100"/>
              <a:ext cx="2754311" cy="726285"/>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18" id="18"/>
          <p:cNvGrpSpPr/>
          <p:nvPr/>
        </p:nvGrpSpPr>
        <p:grpSpPr>
          <a:xfrm rot="0">
            <a:off x="2288087" y="1821243"/>
            <a:ext cx="5128994" cy="888943"/>
            <a:chOff x="0" y="0"/>
            <a:chExt cx="6838659" cy="1185258"/>
          </a:xfrm>
        </p:grpSpPr>
        <p:sp>
          <p:nvSpPr>
            <p:cNvPr name="TextBox 19" id="19"/>
            <p:cNvSpPr txBox="true"/>
            <p:nvPr/>
          </p:nvSpPr>
          <p:spPr>
            <a:xfrm rot="0">
              <a:off x="1589864" y="-66675"/>
              <a:ext cx="4202931" cy="383801"/>
            </a:xfrm>
            <a:prstGeom prst="rect">
              <a:avLst/>
            </a:prstGeom>
          </p:spPr>
          <p:txBody>
            <a:bodyPr anchor="t" rtlCol="false" tIns="0" lIns="0" bIns="0" rIns="0">
              <a:spAutoFit/>
            </a:bodyPr>
            <a:lstStyle/>
            <a:p>
              <a:pPr algn="just" marL="0" indent="0" lvl="0">
                <a:lnSpc>
                  <a:spcPts val="2415"/>
                </a:lnSpc>
              </a:pPr>
              <a:r>
                <a:rPr lang="en-US" b="true" sz="1589">
                  <a:solidFill>
                    <a:srgbClr val="FFFFFF"/>
                  </a:solidFill>
                  <a:latin typeface="Poppins Bold"/>
                  <a:ea typeface="Poppins Bold"/>
                  <a:cs typeface="Poppins Bold"/>
                  <a:sym typeface="Poppins Bold"/>
                </a:rPr>
                <a:t>Clothing Leader</a:t>
              </a:r>
            </a:p>
          </p:txBody>
        </p:sp>
        <p:sp>
          <p:nvSpPr>
            <p:cNvPr name="TextBox 20" id="20"/>
            <p:cNvSpPr txBox="true"/>
            <p:nvPr/>
          </p:nvSpPr>
          <p:spPr>
            <a:xfrm rot="0">
              <a:off x="1589864" y="525080"/>
              <a:ext cx="5248795" cy="660177"/>
            </a:xfrm>
            <a:prstGeom prst="rect">
              <a:avLst/>
            </a:prstGeom>
          </p:spPr>
          <p:txBody>
            <a:bodyPr anchor="t" rtlCol="false" tIns="0" lIns="0" bIns="0" rIns="0">
              <a:spAutoFit/>
            </a:bodyPr>
            <a:lstStyle/>
            <a:p>
              <a:pPr algn="just" marL="0" indent="0" lvl="0">
                <a:lnSpc>
                  <a:spcPts val="1954"/>
                </a:lnSpc>
              </a:pPr>
              <a:r>
                <a:rPr lang="en-US" sz="1396">
                  <a:solidFill>
                    <a:srgbClr val="FFFFFF"/>
                  </a:solidFill>
                  <a:latin typeface="Poppins"/>
                  <a:ea typeface="Poppins"/>
                  <a:cs typeface="Poppins"/>
                  <a:sym typeface="Poppins"/>
                </a:rPr>
                <a:t>Blouse tops clothing sales at $12,450, representing 18% of category revenue.</a:t>
              </a:r>
            </a:p>
          </p:txBody>
        </p:sp>
        <p:sp>
          <p:nvSpPr>
            <p:cNvPr name="TextBox 21" id="21"/>
            <p:cNvSpPr txBox="true"/>
            <p:nvPr/>
          </p:nvSpPr>
          <p:spPr>
            <a:xfrm rot="0">
              <a:off x="0" y="206665"/>
              <a:ext cx="1165955" cy="896460"/>
            </a:xfrm>
            <a:prstGeom prst="rect">
              <a:avLst/>
            </a:prstGeom>
          </p:spPr>
          <p:txBody>
            <a:bodyPr anchor="t" rtlCol="false" tIns="0" lIns="0" bIns="0" rIns="0">
              <a:spAutoFit/>
            </a:bodyPr>
            <a:lstStyle/>
            <a:p>
              <a:pPr algn="l" marL="0" indent="0" lvl="0">
                <a:lnSpc>
                  <a:spcPts val="4350"/>
                </a:lnSpc>
              </a:pPr>
              <a:r>
                <a:rPr lang="en-US" sz="4834" spc="-145">
                  <a:solidFill>
                    <a:srgbClr val="FFFFFF"/>
                  </a:solidFill>
                  <a:latin typeface="Poppins"/>
                  <a:ea typeface="Poppins"/>
                  <a:cs typeface="Poppins"/>
                  <a:sym typeface="Poppins"/>
                </a:rPr>
                <a:t>01</a:t>
              </a:r>
            </a:p>
          </p:txBody>
        </p:sp>
      </p:grpSp>
      <p:grpSp>
        <p:nvGrpSpPr>
          <p:cNvPr name="Group 22" id="22"/>
          <p:cNvGrpSpPr/>
          <p:nvPr/>
        </p:nvGrpSpPr>
        <p:grpSpPr>
          <a:xfrm rot="0">
            <a:off x="1664564" y="3400724"/>
            <a:ext cx="6376039" cy="1593100"/>
            <a:chOff x="0" y="0"/>
            <a:chExt cx="2754311" cy="688185"/>
          </a:xfrm>
        </p:grpSpPr>
        <p:sp>
          <p:nvSpPr>
            <p:cNvPr name="Freeform 23" id="23"/>
            <p:cNvSpPr/>
            <p:nvPr/>
          </p:nvSpPr>
          <p:spPr>
            <a:xfrm flipH="false" flipV="false" rot="0">
              <a:off x="0" y="0"/>
              <a:ext cx="2754311" cy="688185"/>
            </a:xfrm>
            <a:custGeom>
              <a:avLst/>
              <a:gdLst/>
              <a:ahLst/>
              <a:cxnLst/>
              <a:rect r="r" b="b" t="t" l="l"/>
              <a:pathLst>
                <a:path h="688185" w="2754311">
                  <a:moveTo>
                    <a:pt x="52211" y="0"/>
                  </a:moveTo>
                  <a:lnTo>
                    <a:pt x="2702100" y="0"/>
                  </a:lnTo>
                  <a:cubicBezTo>
                    <a:pt x="2715947" y="0"/>
                    <a:pt x="2729227" y="5501"/>
                    <a:pt x="2739019" y="15292"/>
                  </a:cubicBezTo>
                  <a:cubicBezTo>
                    <a:pt x="2748810" y="25084"/>
                    <a:pt x="2754311" y="38364"/>
                    <a:pt x="2754311" y="52211"/>
                  </a:cubicBezTo>
                  <a:lnTo>
                    <a:pt x="2754311" y="635973"/>
                  </a:lnTo>
                  <a:cubicBezTo>
                    <a:pt x="2754311" y="649820"/>
                    <a:pt x="2748810" y="663101"/>
                    <a:pt x="2739019" y="672892"/>
                  </a:cubicBezTo>
                  <a:cubicBezTo>
                    <a:pt x="2729227" y="682684"/>
                    <a:pt x="2715947" y="688185"/>
                    <a:pt x="2702100" y="688185"/>
                  </a:cubicBezTo>
                  <a:lnTo>
                    <a:pt x="52211" y="688185"/>
                  </a:lnTo>
                  <a:cubicBezTo>
                    <a:pt x="38364" y="688185"/>
                    <a:pt x="25084" y="682684"/>
                    <a:pt x="15292" y="672892"/>
                  </a:cubicBezTo>
                  <a:cubicBezTo>
                    <a:pt x="5501" y="663101"/>
                    <a:pt x="0" y="649820"/>
                    <a:pt x="0" y="635973"/>
                  </a:cubicBezTo>
                  <a:lnTo>
                    <a:pt x="0" y="52211"/>
                  </a:lnTo>
                  <a:cubicBezTo>
                    <a:pt x="0" y="38364"/>
                    <a:pt x="5501" y="25084"/>
                    <a:pt x="15292" y="15292"/>
                  </a:cubicBezTo>
                  <a:cubicBezTo>
                    <a:pt x="25084" y="5501"/>
                    <a:pt x="38364" y="0"/>
                    <a:pt x="52211" y="0"/>
                  </a:cubicBezTo>
                  <a:close/>
                </a:path>
              </a:pathLst>
            </a:custGeom>
            <a:ln w="38100" cap="rnd">
              <a:gradFill>
                <a:gsLst>
                  <a:gs pos="0">
                    <a:srgbClr val="3A58E4">
                      <a:alpha val="100000"/>
                    </a:srgbClr>
                  </a:gs>
                  <a:gs pos="100000">
                    <a:srgbClr val="293E9C">
                      <a:alpha val="100000"/>
                    </a:srgbClr>
                  </a:gs>
                </a:gsLst>
                <a:path path="circle">
                  <a:fillToRect l="0" r="100000" t="0" b="100000"/>
                </a:path>
                <a:tileRect r="0" l="-100000" b="0" t="-100000"/>
              </a:gradFill>
              <a:prstDash val="solid"/>
              <a:round/>
            </a:ln>
          </p:spPr>
        </p:sp>
        <p:sp>
          <p:nvSpPr>
            <p:cNvPr name="TextBox 24" id="24"/>
            <p:cNvSpPr txBox="true"/>
            <p:nvPr/>
          </p:nvSpPr>
          <p:spPr>
            <a:xfrm>
              <a:off x="0" y="-38100"/>
              <a:ext cx="2754311" cy="726285"/>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5" id="25"/>
          <p:cNvGrpSpPr/>
          <p:nvPr/>
        </p:nvGrpSpPr>
        <p:grpSpPr>
          <a:xfrm rot="0">
            <a:off x="2288087" y="3734859"/>
            <a:ext cx="5128994" cy="889149"/>
            <a:chOff x="0" y="0"/>
            <a:chExt cx="6838659" cy="1185532"/>
          </a:xfrm>
        </p:grpSpPr>
        <p:sp>
          <p:nvSpPr>
            <p:cNvPr name="TextBox 26" id="26"/>
            <p:cNvSpPr txBox="true"/>
            <p:nvPr/>
          </p:nvSpPr>
          <p:spPr>
            <a:xfrm rot="0">
              <a:off x="1589864" y="-66675"/>
              <a:ext cx="4202931" cy="383801"/>
            </a:xfrm>
            <a:prstGeom prst="rect">
              <a:avLst/>
            </a:prstGeom>
          </p:spPr>
          <p:txBody>
            <a:bodyPr anchor="t" rtlCol="false" tIns="0" lIns="0" bIns="0" rIns="0">
              <a:spAutoFit/>
            </a:bodyPr>
            <a:lstStyle/>
            <a:p>
              <a:pPr algn="just" marL="0" indent="0" lvl="0">
                <a:lnSpc>
                  <a:spcPts val="2415"/>
                </a:lnSpc>
              </a:pPr>
              <a:r>
                <a:rPr lang="en-US" b="true" sz="1589">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Footwear Leader</a:t>
              </a:r>
            </a:p>
          </p:txBody>
        </p:sp>
        <p:sp>
          <p:nvSpPr>
            <p:cNvPr name="TextBox 27" id="27"/>
            <p:cNvSpPr txBox="true"/>
            <p:nvPr/>
          </p:nvSpPr>
          <p:spPr>
            <a:xfrm rot="0">
              <a:off x="1589864" y="525080"/>
              <a:ext cx="5248795" cy="660452"/>
            </a:xfrm>
            <a:prstGeom prst="rect">
              <a:avLst/>
            </a:prstGeom>
          </p:spPr>
          <p:txBody>
            <a:bodyPr anchor="t" rtlCol="false" tIns="0" lIns="0" bIns="0" rIns="0">
              <a:spAutoFit/>
            </a:bodyPr>
            <a:lstStyle/>
            <a:p>
              <a:pPr algn="just" marL="0" indent="0" lvl="0">
                <a:lnSpc>
                  <a:spcPts val="1966"/>
                </a:lnSpc>
              </a:pPr>
              <a:r>
                <a:rPr lang="en-US" sz="1404">
                  <a:gradFill>
                    <a:gsLst>
                      <a:gs pos="0">
                        <a:srgbClr val="3A58E4">
                          <a:alpha val="100000"/>
                        </a:srgbClr>
                      </a:gs>
                      <a:gs pos="100000">
                        <a:srgbClr val="293E9C">
                          <a:alpha val="100000"/>
                        </a:srgbClr>
                      </a:gs>
                    </a:gsLst>
                    <a:path path="circle">
                      <a:fillToRect l="0" r="100000" t="0" b="100000"/>
                    </a:path>
                    <a:tileRect r="0" l="-100000" b="0" t="-100000"/>
                  </a:gradFill>
                  <a:latin typeface="Poppins"/>
                  <a:ea typeface="Poppins"/>
                  <a:cs typeface="Poppins"/>
                  <a:sym typeface="Poppins"/>
                </a:rPr>
                <a:t>Sneakers lead footwear with $9,820 revenue and strong cross-demographic appeal.</a:t>
              </a:r>
            </a:p>
          </p:txBody>
        </p:sp>
        <p:sp>
          <p:nvSpPr>
            <p:cNvPr name="TextBox 28" id="28"/>
            <p:cNvSpPr txBox="true"/>
            <p:nvPr/>
          </p:nvSpPr>
          <p:spPr>
            <a:xfrm rot="0">
              <a:off x="0" y="170499"/>
              <a:ext cx="1165955" cy="896460"/>
            </a:xfrm>
            <a:prstGeom prst="rect">
              <a:avLst/>
            </a:prstGeom>
          </p:spPr>
          <p:txBody>
            <a:bodyPr anchor="t" rtlCol="false" tIns="0" lIns="0" bIns="0" rIns="0">
              <a:spAutoFit/>
            </a:bodyPr>
            <a:lstStyle/>
            <a:p>
              <a:pPr algn="l" marL="0" indent="0" lvl="0">
                <a:lnSpc>
                  <a:spcPts val="4350"/>
                </a:lnSpc>
              </a:pPr>
              <a:r>
                <a:rPr lang="en-US" sz="4834" spc="-145">
                  <a:gradFill>
                    <a:gsLst>
                      <a:gs pos="0">
                        <a:srgbClr val="3A58E4">
                          <a:alpha val="100000"/>
                        </a:srgbClr>
                      </a:gs>
                      <a:gs pos="100000">
                        <a:srgbClr val="293E9C">
                          <a:alpha val="100000"/>
                        </a:srgbClr>
                      </a:gs>
                    </a:gsLst>
                    <a:path path="circle">
                      <a:fillToRect l="0" r="100000" t="0" b="100000"/>
                    </a:path>
                    <a:tileRect r="0" l="-100000" b="0" t="-100000"/>
                  </a:gradFill>
                  <a:latin typeface="Poppins"/>
                  <a:ea typeface="Poppins"/>
                  <a:cs typeface="Poppins"/>
                  <a:sym typeface="Poppins"/>
                </a:rPr>
                <a:t>02</a:t>
              </a:r>
            </a:p>
          </p:txBody>
        </p:sp>
      </p:grpSp>
      <p:grpSp>
        <p:nvGrpSpPr>
          <p:cNvPr name="Group 29" id="29"/>
          <p:cNvGrpSpPr/>
          <p:nvPr/>
        </p:nvGrpSpPr>
        <p:grpSpPr>
          <a:xfrm rot="0">
            <a:off x="1664564" y="5293177"/>
            <a:ext cx="6376039" cy="1593100"/>
            <a:chOff x="0" y="0"/>
            <a:chExt cx="2754311" cy="688185"/>
          </a:xfrm>
        </p:grpSpPr>
        <p:sp>
          <p:nvSpPr>
            <p:cNvPr name="Freeform 30" id="30"/>
            <p:cNvSpPr/>
            <p:nvPr/>
          </p:nvSpPr>
          <p:spPr>
            <a:xfrm flipH="false" flipV="false" rot="0">
              <a:off x="0" y="0"/>
              <a:ext cx="2754311" cy="688185"/>
            </a:xfrm>
            <a:custGeom>
              <a:avLst/>
              <a:gdLst/>
              <a:ahLst/>
              <a:cxnLst/>
              <a:rect r="r" b="b" t="t" l="l"/>
              <a:pathLst>
                <a:path h="688185" w="2754311">
                  <a:moveTo>
                    <a:pt x="52211" y="0"/>
                  </a:moveTo>
                  <a:lnTo>
                    <a:pt x="2702100" y="0"/>
                  </a:lnTo>
                  <a:cubicBezTo>
                    <a:pt x="2715947" y="0"/>
                    <a:pt x="2729227" y="5501"/>
                    <a:pt x="2739019" y="15292"/>
                  </a:cubicBezTo>
                  <a:cubicBezTo>
                    <a:pt x="2748810" y="25084"/>
                    <a:pt x="2754311" y="38364"/>
                    <a:pt x="2754311" y="52211"/>
                  </a:cubicBezTo>
                  <a:lnTo>
                    <a:pt x="2754311" y="635973"/>
                  </a:lnTo>
                  <a:cubicBezTo>
                    <a:pt x="2754311" y="649820"/>
                    <a:pt x="2748810" y="663101"/>
                    <a:pt x="2739019" y="672892"/>
                  </a:cubicBezTo>
                  <a:cubicBezTo>
                    <a:pt x="2729227" y="682684"/>
                    <a:pt x="2715947" y="688185"/>
                    <a:pt x="2702100" y="688185"/>
                  </a:cubicBezTo>
                  <a:lnTo>
                    <a:pt x="52211" y="688185"/>
                  </a:lnTo>
                  <a:cubicBezTo>
                    <a:pt x="38364" y="688185"/>
                    <a:pt x="25084" y="682684"/>
                    <a:pt x="15292" y="672892"/>
                  </a:cubicBezTo>
                  <a:cubicBezTo>
                    <a:pt x="5501" y="663101"/>
                    <a:pt x="0" y="649820"/>
                    <a:pt x="0" y="635973"/>
                  </a:cubicBezTo>
                  <a:lnTo>
                    <a:pt x="0" y="52211"/>
                  </a:lnTo>
                  <a:cubicBezTo>
                    <a:pt x="0" y="38364"/>
                    <a:pt x="5501" y="25084"/>
                    <a:pt x="15292" y="15292"/>
                  </a:cubicBezTo>
                  <a:cubicBezTo>
                    <a:pt x="25084" y="5501"/>
                    <a:pt x="38364" y="0"/>
                    <a:pt x="52211"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31" id="31"/>
            <p:cNvSpPr txBox="true"/>
            <p:nvPr/>
          </p:nvSpPr>
          <p:spPr>
            <a:xfrm>
              <a:off x="0" y="-38100"/>
              <a:ext cx="2754311" cy="726285"/>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32" id="32"/>
          <p:cNvGrpSpPr/>
          <p:nvPr/>
        </p:nvGrpSpPr>
        <p:grpSpPr>
          <a:xfrm rot="0">
            <a:off x="2288087" y="5639303"/>
            <a:ext cx="5128994" cy="888943"/>
            <a:chOff x="0" y="0"/>
            <a:chExt cx="6838659" cy="1185258"/>
          </a:xfrm>
        </p:grpSpPr>
        <p:sp>
          <p:nvSpPr>
            <p:cNvPr name="TextBox 33" id="33"/>
            <p:cNvSpPr txBox="true"/>
            <p:nvPr/>
          </p:nvSpPr>
          <p:spPr>
            <a:xfrm rot="0">
              <a:off x="1589864" y="-66675"/>
              <a:ext cx="4202931" cy="383801"/>
            </a:xfrm>
            <a:prstGeom prst="rect">
              <a:avLst/>
            </a:prstGeom>
          </p:spPr>
          <p:txBody>
            <a:bodyPr anchor="t" rtlCol="false" tIns="0" lIns="0" bIns="0" rIns="0">
              <a:spAutoFit/>
            </a:bodyPr>
            <a:lstStyle/>
            <a:p>
              <a:pPr algn="just" marL="0" indent="0" lvl="0">
                <a:lnSpc>
                  <a:spcPts val="2415"/>
                </a:lnSpc>
              </a:pPr>
              <a:r>
                <a:rPr lang="en-US" b="true" sz="1589">
                  <a:solidFill>
                    <a:srgbClr val="FFFFFF"/>
                  </a:solidFill>
                  <a:latin typeface="Poppins Bold"/>
                  <a:ea typeface="Poppins Bold"/>
                  <a:cs typeface="Poppins Bold"/>
                  <a:sym typeface="Poppins Bold"/>
                </a:rPr>
                <a:t>Accessories Leader</a:t>
              </a:r>
            </a:p>
          </p:txBody>
        </p:sp>
        <p:sp>
          <p:nvSpPr>
            <p:cNvPr name="TextBox 34" id="34"/>
            <p:cNvSpPr txBox="true"/>
            <p:nvPr/>
          </p:nvSpPr>
          <p:spPr>
            <a:xfrm rot="0">
              <a:off x="1589864" y="525080"/>
              <a:ext cx="5248795" cy="660177"/>
            </a:xfrm>
            <a:prstGeom prst="rect">
              <a:avLst/>
            </a:prstGeom>
          </p:spPr>
          <p:txBody>
            <a:bodyPr anchor="t" rtlCol="false" tIns="0" lIns="0" bIns="0" rIns="0">
              <a:spAutoFit/>
            </a:bodyPr>
            <a:lstStyle/>
            <a:p>
              <a:pPr algn="just" marL="0" indent="0" lvl="0">
                <a:lnSpc>
                  <a:spcPts val="1954"/>
                </a:lnSpc>
              </a:pPr>
              <a:r>
                <a:rPr lang="en-US" sz="1396">
                  <a:solidFill>
                    <a:srgbClr val="FFFFFF"/>
                  </a:solidFill>
                  <a:latin typeface="Poppins"/>
                  <a:ea typeface="Poppins"/>
                  <a:cs typeface="Poppins"/>
                  <a:sym typeface="Poppins"/>
                </a:rPr>
                <a:t>Backpack generates $7,650 as top accessory, popular with younger customers.</a:t>
              </a:r>
            </a:p>
          </p:txBody>
        </p:sp>
        <p:sp>
          <p:nvSpPr>
            <p:cNvPr name="TextBox 35" id="35"/>
            <p:cNvSpPr txBox="true"/>
            <p:nvPr/>
          </p:nvSpPr>
          <p:spPr>
            <a:xfrm rot="0">
              <a:off x="0" y="212725"/>
              <a:ext cx="1165955" cy="896460"/>
            </a:xfrm>
            <a:prstGeom prst="rect">
              <a:avLst/>
            </a:prstGeom>
          </p:spPr>
          <p:txBody>
            <a:bodyPr anchor="t" rtlCol="false" tIns="0" lIns="0" bIns="0" rIns="0">
              <a:spAutoFit/>
            </a:bodyPr>
            <a:lstStyle/>
            <a:p>
              <a:pPr algn="l" marL="0" indent="0" lvl="0">
                <a:lnSpc>
                  <a:spcPts val="4350"/>
                </a:lnSpc>
              </a:pPr>
              <a:r>
                <a:rPr lang="en-US" sz="4834" spc="-145">
                  <a:solidFill>
                    <a:srgbClr val="FFFFFF"/>
                  </a:solidFill>
                  <a:latin typeface="Poppins"/>
                  <a:ea typeface="Poppins"/>
                  <a:cs typeface="Poppins"/>
                  <a:sym typeface="Poppins"/>
                </a:rPr>
                <a:t>03</a:t>
              </a:r>
            </a:p>
          </p:txBody>
        </p:sp>
      </p:grpSp>
      <p:grpSp>
        <p:nvGrpSpPr>
          <p:cNvPr name="Group 36" id="36"/>
          <p:cNvGrpSpPr/>
          <p:nvPr/>
        </p:nvGrpSpPr>
        <p:grpSpPr>
          <a:xfrm rot="0">
            <a:off x="1664564" y="7189649"/>
            <a:ext cx="6376039" cy="1593100"/>
            <a:chOff x="0" y="0"/>
            <a:chExt cx="2754311" cy="688185"/>
          </a:xfrm>
        </p:grpSpPr>
        <p:sp>
          <p:nvSpPr>
            <p:cNvPr name="Freeform 37" id="37"/>
            <p:cNvSpPr/>
            <p:nvPr/>
          </p:nvSpPr>
          <p:spPr>
            <a:xfrm flipH="false" flipV="false" rot="0">
              <a:off x="0" y="0"/>
              <a:ext cx="2754311" cy="688185"/>
            </a:xfrm>
            <a:custGeom>
              <a:avLst/>
              <a:gdLst/>
              <a:ahLst/>
              <a:cxnLst/>
              <a:rect r="r" b="b" t="t" l="l"/>
              <a:pathLst>
                <a:path h="688185" w="2754311">
                  <a:moveTo>
                    <a:pt x="52211" y="0"/>
                  </a:moveTo>
                  <a:lnTo>
                    <a:pt x="2702100" y="0"/>
                  </a:lnTo>
                  <a:cubicBezTo>
                    <a:pt x="2715947" y="0"/>
                    <a:pt x="2729227" y="5501"/>
                    <a:pt x="2739019" y="15292"/>
                  </a:cubicBezTo>
                  <a:cubicBezTo>
                    <a:pt x="2748810" y="25084"/>
                    <a:pt x="2754311" y="38364"/>
                    <a:pt x="2754311" y="52211"/>
                  </a:cubicBezTo>
                  <a:lnTo>
                    <a:pt x="2754311" y="635973"/>
                  </a:lnTo>
                  <a:cubicBezTo>
                    <a:pt x="2754311" y="649820"/>
                    <a:pt x="2748810" y="663101"/>
                    <a:pt x="2739019" y="672892"/>
                  </a:cubicBezTo>
                  <a:cubicBezTo>
                    <a:pt x="2729227" y="682684"/>
                    <a:pt x="2715947" y="688185"/>
                    <a:pt x="2702100" y="688185"/>
                  </a:cubicBezTo>
                  <a:lnTo>
                    <a:pt x="52211" y="688185"/>
                  </a:lnTo>
                  <a:cubicBezTo>
                    <a:pt x="38364" y="688185"/>
                    <a:pt x="25084" y="682684"/>
                    <a:pt x="15292" y="672892"/>
                  </a:cubicBezTo>
                  <a:cubicBezTo>
                    <a:pt x="5501" y="663101"/>
                    <a:pt x="0" y="649820"/>
                    <a:pt x="0" y="635973"/>
                  </a:cubicBezTo>
                  <a:lnTo>
                    <a:pt x="0" y="52211"/>
                  </a:lnTo>
                  <a:cubicBezTo>
                    <a:pt x="0" y="38364"/>
                    <a:pt x="5501" y="25084"/>
                    <a:pt x="15292" y="15292"/>
                  </a:cubicBezTo>
                  <a:cubicBezTo>
                    <a:pt x="25084" y="5501"/>
                    <a:pt x="38364" y="0"/>
                    <a:pt x="52211" y="0"/>
                  </a:cubicBezTo>
                  <a:close/>
                </a:path>
              </a:pathLst>
            </a:custGeom>
            <a:ln w="38100" cap="rnd">
              <a:gradFill>
                <a:gsLst>
                  <a:gs pos="0">
                    <a:srgbClr val="3A58E4">
                      <a:alpha val="100000"/>
                    </a:srgbClr>
                  </a:gs>
                  <a:gs pos="100000">
                    <a:srgbClr val="293E9C">
                      <a:alpha val="100000"/>
                    </a:srgbClr>
                  </a:gs>
                </a:gsLst>
                <a:path path="circle">
                  <a:fillToRect l="0" r="100000" t="0" b="100000"/>
                </a:path>
                <a:tileRect r="0" l="-100000" b="0" t="-100000"/>
              </a:gradFill>
              <a:prstDash val="solid"/>
              <a:round/>
            </a:ln>
          </p:spPr>
        </p:sp>
        <p:sp>
          <p:nvSpPr>
            <p:cNvPr name="TextBox 38" id="38"/>
            <p:cNvSpPr txBox="true"/>
            <p:nvPr/>
          </p:nvSpPr>
          <p:spPr>
            <a:xfrm>
              <a:off x="0" y="-38100"/>
              <a:ext cx="2754311" cy="726285"/>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39" id="39"/>
          <p:cNvGrpSpPr/>
          <p:nvPr/>
        </p:nvGrpSpPr>
        <p:grpSpPr>
          <a:xfrm rot="0">
            <a:off x="2288087" y="7532526"/>
            <a:ext cx="5128994" cy="888943"/>
            <a:chOff x="0" y="0"/>
            <a:chExt cx="6838659" cy="1185258"/>
          </a:xfrm>
        </p:grpSpPr>
        <p:sp>
          <p:nvSpPr>
            <p:cNvPr name="TextBox 40" id="40"/>
            <p:cNvSpPr txBox="true"/>
            <p:nvPr/>
          </p:nvSpPr>
          <p:spPr>
            <a:xfrm rot="0">
              <a:off x="1589864" y="-66675"/>
              <a:ext cx="4202931" cy="383801"/>
            </a:xfrm>
            <a:prstGeom prst="rect">
              <a:avLst/>
            </a:prstGeom>
          </p:spPr>
          <p:txBody>
            <a:bodyPr anchor="t" rtlCol="false" tIns="0" lIns="0" bIns="0" rIns="0">
              <a:spAutoFit/>
            </a:bodyPr>
            <a:lstStyle/>
            <a:p>
              <a:pPr algn="just" marL="0" indent="0" lvl="0">
                <a:lnSpc>
                  <a:spcPts val="2415"/>
                </a:lnSpc>
              </a:pPr>
              <a:r>
                <a:rPr lang="en-US" b="true" sz="1589">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Outerwear Leader</a:t>
              </a:r>
            </a:p>
          </p:txBody>
        </p:sp>
        <p:sp>
          <p:nvSpPr>
            <p:cNvPr name="TextBox 41" id="41"/>
            <p:cNvSpPr txBox="true"/>
            <p:nvPr/>
          </p:nvSpPr>
          <p:spPr>
            <a:xfrm rot="0">
              <a:off x="1589864" y="525080"/>
              <a:ext cx="5248795" cy="660177"/>
            </a:xfrm>
            <a:prstGeom prst="rect">
              <a:avLst/>
            </a:prstGeom>
          </p:spPr>
          <p:txBody>
            <a:bodyPr anchor="t" rtlCol="false" tIns="0" lIns="0" bIns="0" rIns="0">
              <a:spAutoFit/>
            </a:bodyPr>
            <a:lstStyle/>
            <a:p>
              <a:pPr algn="just" marL="0" indent="0" lvl="0">
                <a:lnSpc>
                  <a:spcPts val="1954"/>
                </a:lnSpc>
              </a:pPr>
              <a:r>
                <a:rPr lang="en-US" sz="1396">
                  <a:gradFill>
                    <a:gsLst>
                      <a:gs pos="0">
                        <a:srgbClr val="3A58E4">
                          <a:alpha val="100000"/>
                        </a:srgbClr>
                      </a:gs>
                      <a:gs pos="100000">
                        <a:srgbClr val="293E9C">
                          <a:alpha val="100000"/>
                        </a:srgbClr>
                      </a:gs>
                    </a:gsLst>
                    <a:path path="circle">
                      <a:fillToRect l="0" r="100000" t="0" b="100000"/>
                    </a:path>
                    <a:tileRect r="0" l="-100000" b="0" t="-100000"/>
                  </a:gradFill>
                  <a:latin typeface="Poppins"/>
                  <a:ea typeface="Poppins"/>
                  <a:cs typeface="Poppins"/>
                  <a:sym typeface="Poppins"/>
                </a:rPr>
                <a:t>Jacket achieves $8,340 in sales with peak performance during seasonal periods.</a:t>
              </a:r>
            </a:p>
          </p:txBody>
        </p:sp>
        <p:sp>
          <p:nvSpPr>
            <p:cNvPr name="TextBox 42" id="42"/>
            <p:cNvSpPr txBox="true"/>
            <p:nvPr/>
          </p:nvSpPr>
          <p:spPr>
            <a:xfrm rot="0">
              <a:off x="0" y="176559"/>
              <a:ext cx="1165955" cy="896460"/>
            </a:xfrm>
            <a:prstGeom prst="rect">
              <a:avLst/>
            </a:prstGeom>
          </p:spPr>
          <p:txBody>
            <a:bodyPr anchor="t" rtlCol="false" tIns="0" lIns="0" bIns="0" rIns="0">
              <a:spAutoFit/>
            </a:bodyPr>
            <a:lstStyle/>
            <a:p>
              <a:pPr algn="l" marL="0" indent="0" lvl="0">
                <a:lnSpc>
                  <a:spcPts val="4350"/>
                </a:lnSpc>
              </a:pPr>
              <a:r>
                <a:rPr lang="en-US" sz="4834" spc="-145">
                  <a:gradFill>
                    <a:gsLst>
                      <a:gs pos="0">
                        <a:srgbClr val="3A58E4">
                          <a:alpha val="100000"/>
                        </a:srgbClr>
                      </a:gs>
                      <a:gs pos="100000">
                        <a:srgbClr val="293E9C">
                          <a:alpha val="100000"/>
                        </a:srgbClr>
                      </a:gs>
                    </a:gsLst>
                    <a:path path="circle">
                      <a:fillToRect l="0" r="100000" t="0" b="100000"/>
                    </a:path>
                    <a:tileRect r="0" l="-100000" b="0" t="-100000"/>
                  </a:gradFill>
                  <a:latin typeface="Poppins"/>
                  <a:ea typeface="Poppins"/>
                  <a:cs typeface="Poppins"/>
                  <a:sym typeface="Poppins"/>
                </a:rPr>
                <a:t>04</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938179" cy="10287000"/>
            <a:chOff x="0" y="0"/>
            <a:chExt cx="1827339" cy="2709333"/>
          </a:xfrm>
        </p:grpSpPr>
        <p:sp>
          <p:nvSpPr>
            <p:cNvPr name="Freeform 3" id="3"/>
            <p:cNvSpPr/>
            <p:nvPr/>
          </p:nvSpPr>
          <p:spPr>
            <a:xfrm flipH="false" flipV="false" rot="0">
              <a:off x="0" y="0"/>
              <a:ext cx="1827339" cy="2709333"/>
            </a:xfrm>
            <a:custGeom>
              <a:avLst/>
              <a:gdLst/>
              <a:ahLst/>
              <a:cxnLst/>
              <a:rect r="r" b="b" t="t" l="l"/>
              <a:pathLst>
                <a:path h="2709333" w="1827339">
                  <a:moveTo>
                    <a:pt x="0" y="0"/>
                  </a:moveTo>
                  <a:lnTo>
                    <a:pt x="1827339" y="0"/>
                  </a:lnTo>
                  <a:lnTo>
                    <a:pt x="1827339" y="2709333"/>
                  </a:lnTo>
                  <a:lnTo>
                    <a:pt x="0" y="2709333"/>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4" id="4"/>
            <p:cNvSpPr txBox="true"/>
            <p:nvPr/>
          </p:nvSpPr>
          <p:spPr>
            <a:xfrm>
              <a:off x="0" y="-38100"/>
              <a:ext cx="1827339"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5343219" y="4032536"/>
            <a:ext cx="3189919" cy="620584"/>
          </a:xfrm>
          <a:custGeom>
            <a:avLst/>
            <a:gdLst/>
            <a:ahLst/>
            <a:cxnLst/>
            <a:rect r="r" b="b" t="t" l="l"/>
            <a:pathLst>
              <a:path h="620584" w="3189919">
                <a:moveTo>
                  <a:pt x="0" y="0"/>
                </a:moveTo>
                <a:lnTo>
                  <a:pt x="3189919" y="0"/>
                </a:lnTo>
                <a:lnTo>
                  <a:pt x="3189919" y="620584"/>
                </a:lnTo>
                <a:lnTo>
                  <a:pt x="0" y="620584"/>
                </a:lnTo>
                <a:lnTo>
                  <a:pt x="0" y="0"/>
                </a:lnTo>
                <a:close/>
              </a:path>
            </a:pathLst>
          </a:custGeom>
          <a:blipFill>
            <a:blip r:embed="rId2"/>
            <a:stretch>
              <a:fillRect l="0" t="0" r="0" b="0"/>
            </a:stretch>
          </a:blipFill>
        </p:spPr>
      </p:sp>
      <p:grpSp>
        <p:nvGrpSpPr>
          <p:cNvPr name="Group 6" id="6"/>
          <p:cNvGrpSpPr/>
          <p:nvPr/>
        </p:nvGrpSpPr>
        <p:grpSpPr>
          <a:xfrm rot="0">
            <a:off x="5459316" y="1438329"/>
            <a:ext cx="2920486" cy="2916826"/>
            <a:chOff x="0" y="0"/>
            <a:chExt cx="567580" cy="566868"/>
          </a:xfrm>
        </p:grpSpPr>
        <p:sp>
          <p:nvSpPr>
            <p:cNvPr name="Freeform 7" id="7"/>
            <p:cNvSpPr/>
            <p:nvPr/>
          </p:nvSpPr>
          <p:spPr>
            <a:xfrm flipH="false" flipV="false" rot="0">
              <a:off x="0" y="0"/>
              <a:ext cx="567580" cy="566868"/>
            </a:xfrm>
            <a:custGeom>
              <a:avLst/>
              <a:gdLst/>
              <a:ahLst/>
              <a:cxnLst/>
              <a:rect r="r" b="b" t="t" l="l"/>
              <a:pathLst>
                <a:path h="566868" w="567580">
                  <a:moveTo>
                    <a:pt x="119291" y="0"/>
                  </a:moveTo>
                  <a:lnTo>
                    <a:pt x="448289" y="0"/>
                  </a:lnTo>
                  <a:cubicBezTo>
                    <a:pt x="514171" y="0"/>
                    <a:pt x="567580" y="53408"/>
                    <a:pt x="567580" y="119291"/>
                  </a:cubicBezTo>
                  <a:lnTo>
                    <a:pt x="567580" y="447578"/>
                  </a:lnTo>
                  <a:cubicBezTo>
                    <a:pt x="567580" y="479216"/>
                    <a:pt x="555012" y="509558"/>
                    <a:pt x="532640" y="531929"/>
                  </a:cubicBezTo>
                  <a:cubicBezTo>
                    <a:pt x="510269" y="554300"/>
                    <a:pt x="479927" y="566868"/>
                    <a:pt x="448289" y="566868"/>
                  </a:cubicBezTo>
                  <a:lnTo>
                    <a:pt x="119291" y="566868"/>
                  </a:lnTo>
                  <a:cubicBezTo>
                    <a:pt x="87653" y="566868"/>
                    <a:pt x="57311" y="554300"/>
                    <a:pt x="34939" y="531929"/>
                  </a:cubicBezTo>
                  <a:cubicBezTo>
                    <a:pt x="12568" y="509558"/>
                    <a:pt x="0" y="479216"/>
                    <a:pt x="0" y="447578"/>
                  </a:cubicBezTo>
                  <a:lnTo>
                    <a:pt x="0" y="119291"/>
                  </a:lnTo>
                  <a:cubicBezTo>
                    <a:pt x="0" y="53408"/>
                    <a:pt x="53408" y="0"/>
                    <a:pt x="119291"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rnd">
              <a:noFill/>
              <a:prstDash val="solid"/>
              <a:round/>
            </a:ln>
          </p:spPr>
        </p:sp>
        <p:sp>
          <p:nvSpPr>
            <p:cNvPr name="TextBox 8" id="8"/>
            <p:cNvSpPr txBox="true"/>
            <p:nvPr/>
          </p:nvSpPr>
          <p:spPr>
            <a:xfrm>
              <a:off x="0" y="28575"/>
              <a:ext cx="567580" cy="538293"/>
            </a:xfrm>
            <a:prstGeom prst="rect">
              <a:avLst/>
            </a:prstGeom>
          </p:spPr>
          <p:txBody>
            <a:bodyPr anchor="ctr" rtlCol="false" tIns="65745" lIns="65745" bIns="65745" rIns="65745"/>
            <a:lstStyle/>
            <a:p>
              <a:pPr algn="ctr" marL="0" indent="0" lvl="0">
                <a:lnSpc>
                  <a:spcPts val="2460"/>
                </a:lnSpc>
              </a:pPr>
            </a:p>
          </p:txBody>
        </p:sp>
      </p:grpSp>
      <p:sp>
        <p:nvSpPr>
          <p:cNvPr name="TextBox 9" id="9"/>
          <p:cNvSpPr txBox="true"/>
          <p:nvPr/>
        </p:nvSpPr>
        <p:spPr>
          <a:xfrm rot="0">
            <a:off x="5708475" y="2199673"/>
            <a:ext cx="2459408" cy="807581"/>
          </a:xfrm>
          <a:prstGeom prst="rect">
            <a:avLst/>
          </a:prstGeom>
        </p:spPr>
        <p:txBody>
          <a:bodyPr anchor="t" rtlCol="false" tIns="0" lIns="0" bIns="0" rIns="0">
            <a:spAutoFit/>
          </a:bodyPr>
          <a:lstStyle/>
          <a:p>
            <a:pPr algn="ctr" marL="0" indent="0" lvl="0">
              <a:lnSpc>
                <a:spcPts val="6024"/>
              </a:lnSpc>
            </a:pPr>
            <a:r>
              <a:rPr lang="en-US" b="true" sz="6085" spc="-182">
                <a:solidFill>
                  <a:srgbClr val="FFFFFF"/>
                </a:solidFill>
                <a:latin typeface="Bricolage Grotesque Bold"/>
                <a:ea typeface="Bricolage Grotesque Bold"/>
                <a:cs typeface="Bricolage Grotesque Bold"/>
                <a:sym typeface="Bricolage Grotesque Bold"/>
              </a:rPr>
              <a:t>68%</a:t>
            </a:r>
          </a:p>
        </p:txBody>
      </p:sp>
      <p:sp>
        <p:nvSpPr>
          <p:cNvPr name="TextBox 10" id="10"/>
          <p:cNvSpPr txBox="true"/>
          <p:nvPr/>
        </p:nvSpPr>
        <p:spPr>
          <a:xfrm rot="0">
            <a:off x="5940959" y="3099089"/>
            <a:ext cx="1957200" cy="609022"/>
          </a:xfrm>
          <a:prstGeom prst="rect">
            <a:avLst/>
          </a:prstGeom>
        </p:spPr>
        <p:txBody>
          <a:bodyPr anchor="t" rtlCol="false" tIns="0" lIns="0" bIns="0" rIns="0">
            <a:spAutoFit/>
          </a:bodyPr>
          <a:lstStyle/>
          <a:p>
            <a:pPr algn="ctr" marL="0" indent="0" lvl="0">
              <a:lnSpc>
                <a:spcPts val="2355"/>
              </a:lnSpc>
            </a:pPr>
            <a:r>
              <a:rPr lang="en-US" sz="1682" spc="-42">
                <a:solidFill>
                  <a:srgbClr val="FFFFFF"/>
                </a:solidFill>
                <a:latin typeface="Poppins"/>
                <a:ea typeface="Poppins"/>
                <a:cs typeface="Poppins"/>
                <a:sym typeface="Poppins"/>
              </a:rPr>
              <a:t>REPEAT BUYER SUBSCRIPTION RATE</a:t>
            </a:r>
          </a:p>
        </p:txBody>
      </p:sp>
      <p:sp>
        <p:nvSpPr>
          <p:cNvPr name="Freeform 11" id="11"/>
          <p:cNvSpPr/>
          <p:nvPr/>
        </p:nvSpPr>
        <p:spPr>
          <a:xfrm flipH="false" flipV="false" rot="0">
            <a:off x="1112582" y="4207742"/>
            <a:ext cx="872856" cy="894249"/>
          </a:xfrm>
          <a:custGeom>
            <a:avLst/>
            <a:gdLst/>
            <a:ahLst/>
            <a:cxnLst/>
            <a:rect r="r" b="b" t="t" l="l"/>
            <a:pathLst>
              <a:path h="894249" w="872856">
                <a:moveTo>
                  <a:pt x="0" y="0"/>
                </a:moveTo>
                <a:lnTo>
                  <a:pt x="872855" y="0"/>
                </a:lnTo>
                <a:lnTo>
                  <a:pt x="872855" y="894249"/>
                </a:lnTo>
                <a:lnTo>
                  <a:pt x="0" y="894249"/>
                </a:lnTo>
                <a:lnTo>
                  <a:pt x="0" y="0"/>
                </a:lnTo>
                <a:close/>
              </a:path>
            </a:pathLst>
          </a:custGeom>
          <a:blipFill>
            <a:blip r:embed="rId3"/>
            <a:stretch>
              <a:fillRect l="0" t="0" r="0" b="0"/>
            </a:stretch>
          </a:blipFill>
        </p:spPr>
      </p:sp>
      <p:sp>
        <p:nvSpPr>
          <p:cNvPr name="TextBox 12" id="12"/>
          <p:cNvSpPr txBox="true"/>
          <p:nvPr/>
        </p:nvSpPr>
        <p:spPr>
          <a:xfrm rot="0">
            <a:off x="1028700" y="5582154"/>
            <a:ext cx="4378886" cy="434035"/>
          </a:xfrm>
          <a:prstGeom prst="rect">
            <a:avLst/>
          </a:prstGeom>
        </p:spPr>
        <p:txBody>
          <a:bodyPr anchor="t" rtlCol="false" tIns="0" lIns="0" bIns="0" rIns="0">
            <a:spAutoFit/>
          </a:bodyPr>
          <a:lstStyle/>
          <a:p>
            <a:pPr algn="l" marL="0" indent="0" lvl="0">
              <a:lnSpc>
                <a:spcPts val="3799"/>
              </a:lnSpc>
            </a:pPr>
            <a:r>
              <a:rPr lang="en-US" b="true" sz="1758">
                <a:solidFill>
                  <a:srgbClr val="FFFFFF"/>
                </a:solidFill>
                <a:latin typeface="Poppins Bold"/>
                <a:ea typeface="Poppins Bold"/>
                <a:cs typeface="Poppins Bold"/>
                <a:sym typeface="Poppins Bold"/>
              </a:rPr>
              <a:t>SUBSCRIPTION RETENTION</a:t>
            </a:r>
          </a:p>
        </p:txBody>
      </p:sp>
      <p:sp>
        <p:nvSpPr>
          <p:cNvPr name="TextBox 13" id="13"/>
          <p:cNvSpPr txBox="true"/>
          <p:nvPr/>
        </p:nvSpPr>
        <p:spPr>
          <a:xfrm rot="0">
            <a:off x="1028700" y="6166335"/>
            <a:ext cx="4378886" cy="475824"/>
          </a:xfrm>
          <a:prstGeom prst="rect">
            <a:avLst/>
          </a:prstGeom>
        </p:spPr>
        <p:txBody>
          <a:bodyPr anchor="t" rtlCol="false" tIns="0" lIns="0" bIns="0" rIns="0">
            <a:spAutoFit/>
          </a:bodyPr>
          <a:lstStyle/>
          <a:p>
            <a:pPr algn="just" marL="0" indent="0" lvl="0">
              <a:lnSpc>
                <a:spcPts val="1825"/>
              </a:lnSpc>
            </a:pPr>
            <a:r>
              <a:rPr lang="en-US" sz="1496">
                <a:solidFill>
                  <a:srgbClr val="FFFFFF"/>
                </a:solidFill>
                <a:latin typeface="Poppins"/>
                <a:ea typeface="Poppins"/>
                <a:cs typeface="Poppins"/>
                <a:sym typeface="Poppins"/>
              </a:rPr>
              <a:t>Repeat buyers show 3.2x higher subscription retention than first-time purchasers.</a:t>
            </a:r>
          </a:p>
        </p:txBody>
      </p:sp>
      <p:grpSp>
        <p:nvGrpSpPr>
          <p:cNvPr name="Group 14" id="14"/>
          <p:cNvGrpSpPr/>
          <p:nvPr/>
        </p:nvGrpSpPr>
        <p:grpSpPr>
          <a:xfrm rot="0">
            <a:off x="1028700" y="7158052"/>
            <a:ext cx="4378886" cy="790658"/>
            <a:chOff x="0" y="0"/>
            <a:chExt cx="5838515" cy="1054211"/>
          </a:xfrm>
        </p:grpSpPr>
        <p:sp>
          <p:nvSpPr>
            <p:cNvPr name="TextBox 15" id="15"/>
            <p:cNvSpPr txBox="true"/>
            <p:nvPr/>
          </p:nvSpPr>
          <p:spPr>
            <a:xfrm rot="0">
              <a:off x="0" y="-171450"/>
              <a:ext cx="5838515" cy="521563"/>
            </a:xfrm>
            <a:prstGeom prst="rect">
              <a:avLst/>
            </a:prstGeom>
          </p:spPr>
          <p:txBody>
            <a:bodyPr anchor="t" rtlCol="false" tIns="0" lIns="0" bIns="0" rIns="0">
              <a:spAutoFit/>
            </a:bodyPr>
            <a:lstStyle/>
            <a:p>
              <a:pPr algn="l" marL="0" indent="0" lvl="0">
                <a:lnSpc>
                  <a:spcPts val="3799"/>
                </a:lnSpc>
              </a:pPr>
              <a:r>
                <a:rPr lang="en-US" b="true" sz="1758">
                  <a:solidFill>
                    <a:srgbClr val="FFFFFF"/>
                  </a:solidFill>
                  <a:latin typeface="Poppins Bold"/>
                  <a:ea typeface="Poppins Bold"/>
                  <a:cs typeface="Poppins Bold"/>
                  <a:sym typeface="Poppins Bold"/>
                </a:rPr>
                <a:t>PURCHASE FREQUENCY</a:t>
              </a:r>
            </a:p>
          </p:txBody>
        </p:sp>
        <p:sp>
          <p:nvSpPr>
            <p:cNvPr name="TextBox 16" id="16"/>
            <p:cNvSpPr txBox="true"/>
            <p:nvPr/>
          </p:nvSpPr>
          <p:spPr>
            <a:xfrm rot="0">
              <a:off x="0" y="426129"/>
              <a:ext cx="5838515" cy="628082"/>
            </a:xfrm>
            <a:prstGeom prst="rect">
              <a:avLst/>
            </a:prstGeom>
          </p:spPr>
          <p:txBody>
            <a:bodyPr anchor="t" rtlCol="false" tIns="0" lIns="0" bIns="0" rIns="0">
              <a:spAutoFit/>
            </a:bodyPr>
            <a:lstStyle/>
            <a:p>
              <a:pPr algn="just" marL="0" indent="0" lvl="0">
                <a:lnSpc>
                  <a:spcPts val="1825"/>
                </a:lnSpc>
              </a:pPr>
              <a:r>
                <a:rPr lang="en-US" sz="1496">
                  <a:solidFill>
                    <a:srgbClr val="FFFFFF"/>
                  </a:solidFill>
                  <a:latin typeface="Poppins"/>
                  <a:ea typeface="Poppins"/>
                  <a:cs typeface="Poppins"/>
                  <a:sym typeface="Poppins"/>
                </a:rPr>
                <a:t>Subscribers average 4.7 purchases per quarter vs 1.8 for non-subscribers.</a:t>
              </a:r>
            </a:p>
          </p:txBody>
        </p:sp>
      </p:grpSp>
      <p:grpSp>
        <p:nvGrpSpPr>
          <p:cNvPr name="Group 17" id="17"/>
          <p:cNvGrpSpPr/>
          <p:nvPr/>
        </p:nvGrpSpPr>
        <p:grpSpPr>
          <a:xfrm rot="0">
            <a:off x="1028700" y="8467642"/>
            <a:ext cx="4378886" cy="790658"/>
            <a:chOff x="0" y="0"/>
            <a:chExt cx="5838515" cy="1054211"/>
          </a:xfrm>
        </p:grpSpPr>
        <p:sp>
          <p:nvSpPr>
            <p:cNvPr name="TextBox 18" id="18"/>
            <p:cNvSpPr txBox="true"/>
            <p:nvPr/>
          </p:nvSpPr>
          <p:spPr>
            <a:xfrm rot="0">
              <a:off x="0" y="-171450"/>
              <a:ext cx="5838515" cy="521563"/>
            </a:xfrm>
            <a:prstGeom prst="rect">
              <a:avLst/>
            </a:prstGeom>
          </p:spPr>
          <p:txBody>
            <a:bodyPr anchor="t" rtlCol="false" tIns="0" lIns="0" bIns="0" rIns="0">
              <a:spAutoFit/>
            </a:bodyPr>
            <a:lstStyle/>
            <a:p>
              <a:pPr algn="l" marL="0" indent="0" lvl="0">
                <a:lnSpc>
                  <a:spcPts val="3799"/>
                </a:lnSpc>
              </a:pPr>
              <a:r>
                <a:rPr lang="en-US" b="true" sz="1758">
                  <a:solidFill>
                    <a:srgbClr val="FFFFFF"/>
                  </a:solidFill>
                  <a:latin typeface="Poppins Bold"/>
                  <a:ea typeface="Poppins Bold"/>
                  <a:cs typeface="Poppins Bold"/>
                  <a:sym typeface="Poppins Bold"/>
                </a:rPr>
                <a:t>LIFETIME VALUE</a:t>
              </a:r>
            </a:p>
          </p:txBody>
        </p:sp>
        <p:sp>
          <p:nvSpPr>
            <p:cNvPr name="TextBox 19" id="19"/>
            <p:cNvSpPr txBox="true"/>
            <p:nvPr/>
          </p:nvSpPr>
          <p:spPr>
            <a:xfrm rot="0">
              <a:off x="0" y="426129"/>
              <a:ext cx="5838515" cy="628082"/>
            </a:xfrm>
            <a:prstGeom prst="rect">
              <a:avLst/>
            </a:prstGeom>
          </p:spPr>
          <p:txBody>
            <a:bodyPr anchor="t" rtlCol="false" tIns="0" lIns="0" bIns="0" rIns="0">
              <a:spAutoFit/>
            </a:bodyPr>
            <a:lstStyle/>
            <a:p>
              <a:pPr algn="just" marL="0" indent="0" lvl="0">
                <a:lnSpc>
                  <a:spcPts val="1825"/>
                </a:lnSpc>
              </a:pPr>
              <a:r>
                <a:rPr lang="en-US" sz="1496">
                  <a:solidFill>
                    <a:srgbClr val="FFFFFF"/>
                  </a:solidFill>
                  <a:latin typeface="Poppins"/>
                  <a:ea typeface="Poppins"/>
                  <a:cs typeface="Poppins"/>
                  <a:sym typeface="Poppins"/>
                </a:rPr>
                <a:t>Subscribed repeat buyers generate 2.8x higher lifetime value on average.</a:t>
              </a:r>
            </a:p>
          </p:txBody>
        </p:sp>
      </p:grpSp>
      <p:grpSp>
        <p:nvGrpSpPr>
          <p:cNvPr name="Group 20" id="20"/>
          <p:cNvGrpSpPr/>
          <p:nvPr/>
        </p:nvGrpSpPr>
        <p:grpSpPr>
          <a:xfrm rot="0">
            <a:off x="9345491" y="1425910"/>
            <a:ext cx="7522404" cy="7501392"/>
            <a:chOff x="0" y="0"/>
            <a:chExt cx="10029872" cy="10001856"/>
          </a:xfrm>
        </p:grpSpPr>
        <p:sp>
          <p:nvSpPr>
            <p:cNvPr name="TextBox 21" id="21"/>
            <p:cNvSpPr txBox="true"/>
            <p:nvPr/>
          </p:nvSpPr>
          <p:spPr>
            <a:xfrm rot="0">
              <a:off x="1033544" y="-57150"/>
              <a:ext cx="7126880" cy="425482"/>
            </a:xfrm>
            <a:prstGeom prst="rect">
              <a:avLst/>
            </a:prstGeom>
          </p:spPr>
          <p:txBody>
            <a:bodyPr anchor="t" rtlCol="false" tIns="0" lIns="0" bIns="0" rIns="0">
              <a:spAutoFit/>
            </a:bodyPr>
            <a:lstStyle/>
            <a:p>
              <a:pPr algn="just" marL="0" indent="0" lvl="0">
                <a:lnSpc>
                  <a:spcPts val="2623"/>
                </a:lnSpc>
              </a:pPr>
              <a:r>
                <a:rPr lang="en-US" b="true" sz="1874" spc="-46">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SUBSCRIPTION CONVERSION PATTERNS</a:t>
              </a:r>
            </a:p>
          </p:txBody>
        </p:sp>
        <p:sp>
          <p:nvSpPr>
            <p:cNvPr name="TextBox 22" id="22"/>
            <p:cNvSpPr txBox="true"/>
            <p:nvPr/>
          </p:nvSpPr>
          <p:spPr>
            <a:xfrm rot="0">
              <a:off x="1033544" y="949506"/>
              <a:ext cx="8996329" cy="1967781"/>
            </a:xfrm>
            <a:prstGeom prst="rect">
              <a:avLst/>
            </a:prstGeom>
          </p:spPr>
          <p:txBody>
            <a:bodyPr anchor="t" rtlCol="false" tIns="0" lIns="0" bIns="0" rIns="0">
              <a:spAutoFit/>
            </a:bodyPr>
            <a:lstStyle/>
            <a:p>
              <a:pPr algn="just" marL="0" indent="0" lvl="0">
                <a:lnSpc>
                  <a:spcPts val="2392"/>
                </a:lnSpc>
              </a:pPr>
              <a:r>
                <a:rPr lang="en-US" sz="1708" spc="-42">
                  <a:solidFill>
                    <a:srgbClr val="3A58E4"/>
                  </a:solidFill>
                  <a:latin typeface="Poppins"/>
                  <a:ea typeface="Poppins"/>
                  <a:cs typeface="Poppins"/>
                  <a:sym typeface="Poppins"/>
                </a:rPr>
                <a:t>Analysis reveals that 68% of repeat buyers maintain active subscriptions. The conversion rate from first purchase to subscription peaks at the third transaction, with 42% of customers subscribing after their third purchase. Email engagement correlates strongly with subscription adoption.</a:t>
              </a:r>
            </a:p>
          </p:txBody>
        </p:sp>
        <p:sp>
          <p:nvSpPr>
            <p:cNvPr name="TextBox 23" id="23"/>
            <p:cNvSpPr txBox="true"/>
            <p:nvPr/>
          </p:nvSpPr>
          <p:spPr>
            <a:xfrm rot="0">
              <a:off x="1033544" y="3485135"/>
              <a:ext cx="7126880" cy="425482"/>
            </a:xfrm>
            <a:prstGeom prst="rect">
              <a:avLst/>
            </a:prstGeom>
          </p:spPr>
          <p:txBody>
            <a:bodyPr anchor="t" rtlCol="false" tIns="0" lIns="0" bIns="0" rIns="0">
              <a:spAutoFit/>
            </a:bodyPr>
            <a:lstStyle/>
            <a:p>
              <a:pPr algn="just" marL="0" indent="0" lvl="0">
                <a:lnSpc>
                  <a:spcPts val="2623"/>
                </a:lnSpc>
              </a:pPr>
              <a:r>
                <a:rPr lang="en-US" b="true" sz="1874" spc="-46">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RETENTION METRICS ANALYSIS</a:t>
              </a:r>
            </a:p>
          </p:txBody>
        </p:sp>
        <p:sp>
          <p:nvSpPr>
            <p:cNvPr name="TextBox 24" id="24"/>
            <p:cNvSpPr txBox="true"/>
            <p:nvPr/>
          </p:nvSpPr>
          <p:spPr>
            <a:xfrm rot="0">
              <a:off x="1033544" y="4491790"/>
              <a:ext cx="8996329" cy="1967781"/>
            </a:xfrm>
            <a:prstGeom prst="rect">
              <a:avLst/>
            </a:prstGeom>
          </p:spPr>
          <p:txBody>
            <a:bodyPr anchor="t" rtlCol="false" tIns="0" lIns="0" bIns="0" rIns="0">
              <a:spAutoFit/>
            </a:bodyPr>
            <a:lstStyle/>
            <a:p>
              <a:pPr algn="just" marL="0" indent="0" lvl="0">
                <a:lnSpc>
                  <a:spcPts val="2392"/>
                </a:lnSpc>
              </a:pPr>
              <a:r>
                <a:rPr lang="en-US" sz="1708" spc="-42">
                  <a:solidFill>
                    <a:srgbClr val="3A58E4"/>
                  </a:solidFill>
                  <a:latin typeface="Poppins"/>
                  <a:ea typeface="Poppins"/>
                  <a:cs typeface="Poppins"/>
                  <a:sym typeface="Poppins"/>
                </a:rPr>
                <a:t>Subscribed repeat buyers demonstrate 89% 6-month retention compared to 34% for non-subscribed repeat buyers. Churn rate drops significantly after the 90-day mark, with subscribed customers showing 4x lower churn probability. Personalized offers increase retention by 23%.</a:t>
              </a:r>
            </a:p>
          </p:txBody>
        </p:sp>
        <p:sp>
          <p:nvSpPr>
            <p:cNvPr name="TextBox 25" id="25"/>
            <p:cNvSpPr txBox="true"/>
            <p:nvPr/>
          </p:nvSpPr>
          <p:spPr>
            <a:xfrm rot="0">
              <a:off x="1033544" y="7027419"/>
              <a:ext cx="7126880" cy="425482"/>
            </a:xfrm>
            <a:prstGeom prst="rect">
              <a:avLst/>
            </a:prstGeom>
          </p:spPr>
          <p:txBody>
            <a:bodyPr anchor="t" rtlCol="false" tIns="0" lIns="0" bIns="0" rIns="0">
              <a:spAutoFit/>
            </a:bodyPr>
            <a:lstStyle/>
            <a:p>
              <a:pPr algn="just" marL="0" indent="0" lvl="0">
                <a:lnSpc>
                  <a:spcPts val="2623"/>
                </a:lnSpc>
              </a:pPr>
              <a:r>
                <a:rPr lang="en-US" b="true" sz="1874" spc="-46">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REVENUE IMPACT ASSESSMENT</a:t>
              </a:r>
            </a:p>
          </p:txBody>
        </p:sp>
        <p:sp>
          <p:nvSpPr>
            <p:cNvPr name="TextBox 26" id="26"/>
            <p:cNvSpPr txBox="true"/>
            <p:nvPr/>
          </p:nvSpPr>
          <p:spPr>
            <a:xfrm rot="0">
              <a:off x="1033544" y="8034075"/>
              <a:ext cx="8996329" cy="1967781"/>
            </a:xfrm>
            <a:prstGeom prst="rect">
              <a:avLst/>
            </a:prstGeom>
          </p:spPr>
          <p:txBody>
            <a:bodyPr anchor="t" rtlCol="false" tIns="0" lIns="0" bIns="0" rIns="0">
              <a:spAutoFit/>
            </a:bodyPr>
            <a:lstStyle/>
            <a:p>
              <a:pPr algn="just" marL="0" indent="0" lvl="0">
                <a:lnSpc>
                  <a:spcPts val="2392"/>
                </a:lnSpc>
              </a:pPr>
              <a:r>
                <a:rPr lang="en-US" sz="1708" spc="-42">
                  <a:solidFill>
                    <a:srgbClr val="3A58E4"/>
                  </a:solidFill>
                  <a:latin typeface="Poppins"/>
                  <a:ea typeface="Poppins"/>
                  <a:cs typeface="Poppins"/>
                  <a:sym typeface="Poppins"/>
                </a:rPr>
                <a:t>Subscribed repeat buyers contribute $156,204 (67%) of total revenue despite representing only 38% of the customer base. Average order value for this segment is $89.50 compared to $52.30 for non-subscribed customers. Monthly recurring revenue from subscriptions grew 18% quarter-over-quarter.</a:t>
              </a:r>
            </a:p>
          </p:txBody>
        </p:sp>
        <p:sp>
          <p:nvSpPr>
            <p:cNvPr name="TextBox 27" id="27"/>
            <p:cNvSpPr txBox="true"/>
            <p:nvPr/>
          </p:nvSpPr>
          <p:spPr>
            <a:xfrm rot="0">
              <a:off x="0" y="1257541"/>
              <a:ext cx="643052" cy="280203"/>
            </a:xfrm>
            <a:prstGeom prst="rect">
              <a:avLst/>
            </a:prstGeom>
          </p:spPr>
          <p:txBody>
            <a:bodyPr anchor="t" rtlCol="false" tIns="0" lIns="0" bIns="0" rIns="0">
              <a:spAutoFit/>
            </a:bodyPr>
            <a:lstStyle/>
            <a:p>
              <a:pPr algn="l" marL="0" indent="0" lvl="0">
                <a:lnSpc>
                  <a:spcPts val="1525"/>
                </a:lnSpc>
              </a:pPr>
              <a:r>
                <a:rPr lang="en-US" sz="1540" spc="-46">
                  <a:solidFill>
                    <a:srgbClr val="3A58E4"/>
                  </a:solidFill>
                  <a:latin typeface="Bricolage Grotesque"/>
                  <a:ea typeface="Bricolage Grotesque"/>
                  <a:cs typeface="Bricolage Grotesque"/>
                  <a:sym typeface="Bricolage Grotesque"/>
                </a:rPr>
                <a:t>01</a:t>
              </a:r>
            </a:p>
          </p:txBody>
        </p:sp>
        <p:sp>
          <p:nvSpPr>
            <p:cNvPr name="TextBox 28" id="28"/>
            <p:cNvSpPr txBox="true"/>
            <p:nvPr/>
          </p:nvSpPr>
          <p:spPr>
            <a:xfrm rot="0">
              <a:off x="0" y="4799826"/>
              <a:ext cx="643052" cy="280203"/>
            </a:xfrm>
            <a:prstGeom prst="rect">
              <a:avLst/>
            </a:prstGeom>
          </p:spPr>
          <p:txBody>
            <a:bodyPr anchor="t" rtlCol="false" tIns="0" lIns="0" bIns="0" rIns="0">
              <a:spAutoFit/>
            </a:bodyPr>
            <a:lstStyle/>
            <a:p>
              <a:pPr algn="l" marL="0" indent="0" lvl="0">
                <a:lnSpc>
                  <a:spcPts val="1525"/>
                </a:lnSpc>
              </a:pPr>
              <a:r>
                <a:rPr lang="en-US" sz="1540" spc="-46">
                  <a:solidFill>
                    <a:srgbClr val="3A58E4"/>
                  </a:solidFill>
                  <a:latin typeface="Bricolage Grotesque"/>
                  <a:ea typeface="Bricolage Grotesque"/>
                  <a:cs typeface="Bricolage Grotesque"/>
                  <a:sym typeface="Bricolage Grotesque"/>
                </a:rPr>
                <a:t>02</a:t>
              </a:r>
            </a:p>
          </p:txBody>
        </p:sp>
        <p:sp>
          <p:nvSpPr>
            <p:cNvPr name="TextBox 29" id="29"/>
            <p:cNvSpPr txBox="true"/>
            <p:nvPr/>
          </p:nvSpPr>
          <p:spPr>
            <a:xfrm rot="0">
              <a:off x="0" y="8342110"/>
              <a:ext cx="643052" cy="280203"/>
            </a:xfrm>
            <a:prstGeom prst="rect">
              <a:avLst/>
            </a:prstGeom>
          </p:spPr>
          <p:txBody>
            <a:bodyPr anchor="t" rtlCol="false" tIns="0" lIns="0" bIns="0" rIns="0">
              <a:spAutoFit/>
            </a:bodyPr>
            <a:lstStyle/>
            <a:p>
              <a:pPr algn="l" marL="0" indent="0" lvl="0">
                <a:lnSpc>
                  <a:spcPts val="1525"/>
                </a:lnSpc>
              </a:pPr>
              <a:r>
                <a:rPr lang="en-US" sz="1540" spc="-46">
                  <a:solidFill>
                    <a:srgbClr val="3A58E4"/>
                  </a:solidFill>
                  <a:latin typeface="Bricolage Grotesque"/>
                  <a:ea typeface="Bricolage Grotesque"/>
                  <a:cs typeface="Bricolage Grotesque"/>
                  <a:sym typeface="Bricolage Grotesque"/>
                </a:rPr>
                <a:t>03</a:t>
              </a:r>
            </a:p>
          </p:txBody>
        </p:sp>
      </p:grpSp>
      <p:grpSp>
        <p:nvGrpSpPr>
          <p:cNvPr name="Group 30" id="30"/>
          <p:cNvGrpSpPr/>
          <p:nvPr/>
        </p:nvGrpSpPr>
        <p:grpSpPr>
          <a:xfrm rot="0">
            <a:off x="1028700" y="1196251"/>
            <a:ext cx="24226" cy="1038034"/>
            <a:chOff x="0" y="0"/>
            <a:chExt cx="12543" cy="537460"/>
          </a:xfrm>
        </p:grpSpPr>
        <p:sp>
          <p:nvSpPr>
            <p:cNvPr name="Freeform 31" id="31"/>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FFFFFF"/>
            </a:solidFill>
          </p:spPr>
        </p:sp>
        <p:sp>
          <p:nvSpPr>
            <p:cNvPr name="TextBox 32" id="32"/>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33" id="33"/>
          <p:cNvSpPr txBox="true"/>
          <p:nvPr/>
        </p:nvSpPr>
        <p:spPr>
          <a:xfrm rot="0">
            <a:off x="1144711" y="1404471"/>
            <a:ext cx="2753109" cy="997365"/>
          </a:xfrm>
          <a:prstGeom prst="rect">
            <a:avLst/>
          </a:prstGeom>
        </p:spPr>
        <p:txBody>
          <a:bodyPr anchor="t" rtlCol="false" tIns="0" lIns="0" bIns="0" rIns="0">
            <a:spAutoFit/>
          </a:bodyPr>
          <a:lstStyle/>
          <a:p>
            <a:pPr algn="l" marL="0" indent="0" lvl="0">
              <a:lnSpc>
                <a:spcPts val="3833"/>
              </a:lnSpc>
            </a:pPr>
            <a:r>
              <a:rPr lang="en-US" sz="3911" spc="-250">
                <a:solidFill>
                  <a:srgbClr val="FFFFFF"/>
                </a:solidFill>
                <a:latin typeface="Bricolage Grotesque"/>
                <a:ea typeface="Bricolage Grotesque"/>
                <a:cs typeface="Bricolage Grotesque"/>
                <a:sym typeface="Bricolage Grotesque"/>
              </a:rPr>
              <a:t>Repeat Buyer Analysis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828142" y="1358088"/>
            <a:ext cx="47625" cy="2040668"/>
            <a:chOff x="0" y="0"/>
            <a:chExt cx="12543" cy="537460"/>
          </a:xfrm>
        </p:grpSpPr>
        <p:sp>
          <p:nvSpPr>
            <p:cNvPr name="Freeform 3" id="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4" id="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7828142" y="4449725"/>
            <a:ext cx="9021242" cy="379246"/>
            <a:chOff x="0" y="0"/>
            <a:chExt cx="12028323" cy="505662"/>
          </a:xfrm>
        </p:grpSpPr>
        <p:sp>
          <p:nvSpPr>
            <p:cNvPr name="TextBox 6" id="6"/>
            <p:cNvSpPr txBox="true"/>
            <p:nvPr/>
          </p:nvSpPr>
          <p:spPr>
            <a:xfrm rot="0">
              <a:off x="0" y="-49061"/>
              <a:ext cx="11773903" cy="554723"/>
            </a:xfrm>
            <a:prstGeom prst="rect">
              <a:avLst/>
            </a:prstGeom>
          </p:spPr>
          <p:txBody>
            <a:bodyPr anchor="t" rtlCol="false" tIns="0" lIns="0" bIns="0" rIns="0">
              <a:spAutoFit/>
            </a:bodyPr>
            <a:lstStyle/>
            <a:p>
              <a:pPr algn="l" marL="0" indent="0" lvl="0">
                <a:lnSpc>
                  <a:spcPts val="3318"/>
                </a:lnSpc>
              </a:pPr>
              <a:r>
                <a:rPr lang="en-US" b="true" sz="2370" spc="-59">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REVENUE DISTRIBUTION ACROSS CUSTOMER AGE SEGMENTS</a:t>
              </a:r>
            </a:p>
          </p:txBody>
        </p:sp>
        <p:sp>
          <p:nvSpPr>
            <p:cNvPr name="Freeform 7" id="7"/>
            <p:cNvSpPr/>
            <p:nvPr/>
          </p:nvSpPr>
          <p:spPr>
            <a:xfrm flipH="false" flipV="false" rot="-8687136">
              <a:off x="11711303"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8" id="8"/>
          <p:cNvGrpSpPr/>
          <p:nvPr/>
        </p:nvGrpSpPr>
        <p:grpSpPr>
          <a:xfrm rot="0">
            <a:off x="16438046" y="0"/>
            <a:ext cx="1849954" cy="1848166"/>
            <a:chOff x="0" y="0"/>
            <a:chExt cx="2466605" cy="2464222"/>
          </a:xfrm>
        </p:grpSpPr>
        <p:grpSp>
          <p:nvGrpSpPr>
            <p:cNvPr name="Group 9" id="9"/>
            <p:cNvGrpSpPr/>
            <p:nvPr/>
          </p:nvGrpSpPr>
          <p:grpSpPr>
            <a:xfrm rot="0">
              <a:off x="0" y="0"/>
              <a:ext cx="2466605" cy="2464222"/>
              <a:chOff x="0" y="0"/>
              <a:chExt cx="787566" cy="786805"/>
            </a:xfrm>
          </p:grpSpPr>
          <p:sp>
            <p:nvSpPr>
              <p:cNvPr name="Freeform 10" id="10"/>
              <p:cNvSpPr/>
              <p:nvPr/>
            </p:nvSpPr>
            <p:spPr>
              <a:xfrm flipH="false" flipV="false" rot="0">
                <a:off x="0" y="0"/>
                <a:ext cx="787566" cy="786805"/>
              </a:xfrm>
              <a:custGeom>
                <a:avLst/>
                <a:gdLst/>
                <a:ahLst/>
                <a:cxnLst/>
                <a:rect r="r" b="b" t="t" l="l"/>
                <a:pathLst>
                  <a:path h="786805" w="787566">
                    <a:moveTo>
                      <a:pt x="0" y="0"/>
                    </a:moveTo>
                    <a:lnTo>
                      <a:pt x="787566" y="0"/>
                    </a:lnTo>
                    <a:lnTo>
                      <a:pt x="787566" y="786805"/>
                    </a:lnTo>
                    <a:lnTo>
                      <a:pt x="0" y="786805"/>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1" id="11"/>
              <p:cNvSpPr txBox="true"/>
              <p:nvPr/>
            </p:nvSpPr>
            <p:spPr>
              <a:xfrm>
                <a:off x="0" y="-38100"/>
                <a:ext cx="787566" cy="82490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319164" y="694049"/>
              <a:ext cx="1828278" cy="1199949"/>
            </a:xfrm>
            <a:prstGeom prst="rect">
              <a:avLst/>
            </a:prstGeom>
          </p:spPr>
          <p:txBody>
            <a:bodyPr anchor="t" rtlCol="false" tIns="0" lIns="0" bIns="0" rIns="0">
              <a:spAutoFit/>
            </a:bodyPr>
            <a:lstStyle/>
            <a:p>
              <a:pPr algn="ctr" marL="0" indent="0" lvl="0">
                <a:lnSpc>
                  <a:spcPts val="6425"/>
                </a:lnSpc>
              </a:pPr>
              <a:r>
                <a:rPr lang="en-US" sz="6557" spc="-419">
                  <a:solidFill>
                    <a:srgbClr val="FFFFFF"/>
                  </a:solidFill>
                  <a:latin typeface="Bricolage Grotesque"/>
                  <a:ea typeface="Bricolage Grotesque"/>
                  <a:cs typeface="Bricolage Grotesque"/>
                  <a:sym typeface="Bricolage Grotesque"/>
                </a:rPr>
                <a:t>12</a:t>
              </a:r>
            </a:p>
          </p:txBody>
        </p:sp>
      </p:grpSp>
      <p:sp>
        <p:nvSpPr>
          <p:cNvPr name="AutoShape 13" id="13"/>
          <p:cNvSpPr/>
          <p:nvPr/>
        </p:nvSpPr>
        <p:spPr>
          <a:xfrm flipH="true">
            <a:off x="6542795" y="0"/>
            <a:ext cx="0" cy="10287000"/>
          </a:xfrm>
          <a:prstGeom prst="line">
            <a:avLst/>
          </a:prstGeom>
          <a:ln cap="rnd" w="19050">
            <a:solidFill>
              <a:srgbClr val="3A58E4"/>
            </a:solidFill>
            <a:prstDash val="solid"/>
            <a:headEnd type="none" len="sm" w="sm"/>
            <a:tailEnd type="none" len="sm" w="sm"/>
          </a:ln>
        </p:spPr>
      </p:sp>
      <p:sp>
        <p:nvSpPr>
          <p:cNvPr name="AutoShape 14" id="14"/>
          <p:cNvSpPr/>
          <p:nvPr/>
        </p:nvSpPr>
        <p:spPr>
          <a:xfrm>
            <a:off x="0" y="5320770"/>
            <a:ext cx="6542795" cy="0"/>
          </a:xfrm>
          <a:prstGeom prst="line">
            <a:avLst/>
          </a:prstGeom>
          <a:ln cap="rnd" w="19050">
            <a:solidFill>
              <a:srgbClr val="3A58E4"/>
            </a:solidFill>
            <a:prstDash val="solid"/>
            <a:headEnd type="none" len="sm" w="sm"/>
            <a:tailEnd type="none" len="sm" w="sm"/>
          </a:ln>
        </p:spPr>
      </p:sp>
      <p:grpSp>
        <p:nvGrpSpPr>
          <p:cNvPr name="Group 15" id="15"/>
          <p:cNvGrpSpPr/>
          <p:nvPr/>
        </p:nvGrpSpPr>
        <p:grpSpPr>
          <a:xfrm rot="0">
            <a:off x="197452" y="174137"/>
            <a:ext cx="6165930" cy="4969363"/>
            <a:chOff x="0" y="0"/>
            <a:chExt cx="955264" cy="769884"/>
          </a:xfrm>
        </p:grpSpPr>
        <p:sp>
          <p:nvSpPr>
            <p:cNvPr name="Freeform 16" id="16"/>
            <p:cNvSpPr/>
            <p:nvPr/>
          </p:nvSpPr>
          <p:spPr>
            <a:xfrm flipH="false" flipV="false" rot="0">
              <a:off x="0" y="0"/>
              <a:ext cx="955264" cy="769884"/>
            </a:xfrm>
            <a:custGeom>
              <a:avLst/>
              <a:gdLst/>
              <a:ahLst/>
              <a:cxnLst/>
              <a:rect r="r" b="b" t="t" l="l"/>
              <a:pathLst>
                <a:path h="769884" w="955264">
                  <a:moveTo>
                    <a:pt x="0" y="0"/>
                  </a:moveTo>
                  <a:lnTo>
                    <a:pt x="955264" y="0"/>
                  </a:lnTo>
                  <a:lnTo>
                    <a:pt x="955264" y="769884"/>
                  </a:lnTo>
                  <a:lnTo>
                    <a:pt x="0" y="769884"/>
                  </a:lnTo>
                  <a:close/>
                </a:path>
              </a:pathLst>
            </a:custGeom>
            <a:blipFill>
              <a:blip r:embed="rId4"/>
              <a:stretch>
                <a:fillRect l="0" t="-174" r="0" b="-174"/>
              </a:stretch>
            </a:blipFill>
          </p:spPr>
        </p:sp>
      </p:grpSp>
      <p:sp>
        <p:nvSpPr>
          <p:cNvPr name="TextBox 17" id="17"/>
          <p:cNvSpPr txBox="true"/>
          <p:nvPr/>
        </p:nvSpPr>
        <p:spPr>
          <a:xfrm rot="0">
            <a:off x="8056208" y="1228725"/>
            <a:ext cx="7107541" cy="2499419"/>
          </a:xfrm>
          <a:prstGeom prst="rect">
            <a:avLst/>
          </a:prstGeom>
        </p:spPr>
        <p:txBody>
          <a:bodyPr anchor="t" rtlCol="false" tIns="0" lIns="0" bIns="0" rIns="0">
            <a:spAutoFit/>
          </a:bodyPr>
          <a:lstStyle/>
          <a:p>
            <a:pPr algn="l" marL="0" indent="0" lvl="0">
              <a:lnSpc>
                <a:spcPts val="9603"/>
              </a:lnSpc>
            </a:pPr>
            <a:r>
              <a:rPr lang="en-US" sz="9799" spc="-627">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Revenue by</a:t>
            </a:r>
          </a:p>
          <a:p>
            <a:pPr algn="l" marL="0" indent="0" lvl="0">
              <a:lnSpc>
                <a:spcPts val="9603"/>
              </a:lnSpc>
            </a:pPr>
            <a:r>
              <a:rPr lang="en-US" sz="9799" spc="-627">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Age Group</a:t>
            </a:r>
          </a:p>
        </p:txBody>
      </p:sp>
      <p:sp>
        <p:nvSpPr>
          <p:cNvPr name="TextBox 18" id="18"/>
          <p:cNvSpPr txBox="true"/>
          <p:nvPr/>
        </p:nvSpPr>
        <p:spPr>
          <a:xfrm rot="0">
            <a:off x="7828142" y="5541027"/>
            <a:ext cx="9021242" cy="3525015"/>
          </a:xfrm>
          <a:prstGeom prst="rect">
            <a:avLst/>
          </a:prstGeom>
        </p:spPr>
        <p:txBody>
          <a:bodyPr anchor="t" rtlCol="false" tIns="0" lIns="0" bIns="0" rIns="0">
            <a:spAutoFit/>
          </a:bodyPr>
          <a:lstStyle/>
          <a:p>
            <a:pPr algn="just" marL="0" indent="0" lvl="0">
              <a:lnSpc>
                <a:spcPts val="3107"/>
              </a:lnSpc>
            </a:pPr>
            <a:r>
              <a:rPr lang="en-US" sz="2219" spc="-6">
                <a:solidFill>
                  <a:srgbClr val="3A58E4"/>
                </a:solidFill>
                <a:latin typeface="Poppins"/>
                <a:ea typeface="Poppins"/>
                <a:cs typeface="Poppins"/>
                <a:sym typeface="Poppins"/>
              </a:rPr>
              <a:t>Our customer base spans multiple age demographics, each contributing uniquely to total revenue. The 35-44 age segment leads with 28% of total revenue ($65,263), followed closely by 25-34 year olds at 24% ($55,939). Customers aged 45-54 contribute 22% ($51,278), while the 18-24 demographic accounts for 15% ($34,962). Senior customers 55+ represent 11% of revenue ($25,639). This distribution highlights strong mid-career purchasing power while revealing growth opportunities in younger and senior segments.</a:t>
            </a:r>
          </a:p>
        </p:txBody>
      </p:sp>
      <p:sp>
        <p:nvSpPr>
          <p:cNvPr name="TextBox 19" id="19"/>
          <p:cNvSpPr txBox="true"/>
          <p:nvPr/>
        </p:nvSpPr>
        <p:spPr>
          <a:xfrm rot="0">
            <a:off x="1736067" y="8274702"/>
            <a:ext cx="3088700" cy="791340"/>
          </a:xfrm>
          <a:prstGeom prst="rect">
            <a:avLst/>
          </a:prstGeom>
        </p:spPr>
        <p:txBody>
          <a:bodyPr anchor="t" rtlCol="false" tIns="0" lIns="0" bIns="0" rIns="0">
            <a:spAutoFit/>
          </a:bodyPr>
          <a:lstStyle/>
          <a:p>
            <a:pPr algn="ctr" marL="0" indent="0" lvl="0">
              <a:lnSpc>
                <a:spcPts val="3107"/>
              </a:lnSpc>
            </a:pPr>
            <a:r>
              <a:rPr lang="en-US" sz="2219" spc="-6">
                <a:solidFill>
                  <a:srgbClr val="3A58E4"/>
                </a:solidFill>
                <a:latin typeface="Poppins"/>
                <a:ea typeface="Poppins"/>
                <a:cs typeface="Poppins"/>
                <a:sym typeface="Poppins"/>
              </a:rPr>
              <a:t>Revenue share from 35-44 age segment</a:t>
            </a:r>
          </a:p>
        </p:txBody>
      </p:sp>
      <p:sp>
        <p:nvSpPr>
          <p:cNvPr name="TextBox 20" id="20"/>
          <p:cNvSpPr txBox="true"/>
          <p:nvPr/>
        </p:nvSpPr>
        <p:spPr>
          <a:xfrm rot="0">
            <a:off x="722135" y="5588652"/>
            <a:ext cx="5116565" cy="2581275"/>
          </a:xfrm>
          <a:prstGeom prst="rect">
            <a:avLst/>
          </a:prstGeom>
        </p:spPr>
        <p:txBody>
          <a:bodyPr anchor="t" rtlCol="false" tIns="0" lIns="0" bIns="0" rIns="0">
            <a:spAutoFit/>
          </a:bodyPr>
          <a:lstStyle/>
          <a:p>
            <a:pPr algn="ctr" marL="0" indent="0" lvl="0">
              <a:lnSpc>
                <a:spcPts val="21000"/>
              </a:lnSpc>
              <a:spcBef>
                <a:spcPct val="0"/>
              </a:spcBef>
            </a:pPr>
            <a:r>
              <a:rPr lang="en-US" sz="15000" spc="-960">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a:ea typeface="Bricolage Grotesque"/>
                <a:cs typeface="Bricolage Grotesque"/>
                <a:sym typeface="Bricolage Grotesque"/>
              </a:rPr>
              <a:t>28%</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641386" y="0"/>
            <a:ext cx="4646614" cy="10287000"/>
            <a:chOff x="0" y="0"/>
            <a:chExt cx="1223800" cy="2709333"/>
          </a:xfrm>
        </p:grpSpPr>
        <p:sp>
          <p:nvSpPr>
            <p:cNvPr name="Freeform 3" id="3"/>
            <p:cNvSpPr/>
            <p:nvPr/>
          </p:nvSpPr>
          <p:spPr>
            <a:xfrm flipH="false" flipV="false" rot="0">
              <a:off x="0" y="0"/>
              <a:ext cx="1223800" cy="2709333"/>
            </a:xfrm>
            <a:custGeom>
              <a:avLst/>
              <a:gdLst/>
              <a:ahLst/>
              <a:cxnLst/>
              <a:rect r="r" b="b" t="t" l="l"/>
              <a:pathLst>
                <a:path h="2709333" w="1223800">
                  <a:moveTo>
                    <a:pt x="0" y="0"/>
                  </a:moveTo>
                  <a:lnTo>
                    <a:pt x="1223800" y="0"/>
                  </a:lnTo>
                  <a:lnTo>
                    <a:pt x="1223800" y="2709333"/>
                  </a:lnTo>
                  <a:lnTo>
                    <a:pt x="0" y="2709333"/>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4" id="4"/>
            <p:cNvSpPr txBox="true"/>
            <p:nvPr/>
          </p:nvSpPr>
          <p:spPr>
            <a:xfrm>
              <a:off x="0" y="-38100"/>
              <a:ext cx="1223800" cy="274743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5102839" y="1172167"/>
            <a:ext cx="1723707" cy="7858663"/>
            <a:chOff x="0" y="0"/>
            <a:chExt cx="2298277" cy="10478218"/>
          </a:xfrm>
        </p:grpSpPr>
        <p:sp>
          <p:nvSpPr>
            <p:cNvPr name="Freeform 6" id="6"/>
            <p:cNvSpPr/>
            <p:nvPr/>
          </p:nvSpPr>
          <p:spPr>
            <a:xfrm flipH="false" flipV="false" rot="0">
              <a:off x="738207" y="0"/>
              <a:ext cx="808838" cy="947395"/>
            </a:xfrm>
            <a:custGeom>
              <a:avLst/>
              <a:gdLst/>
              <a:ahLst/>
              <a:cxnLst/>
              <a:rect r="r" b="b" t="t" l="l"/>
              <a:pathLst>
                <a:path h="947395" w="808838">
                  <a:moveTo>
                    <a:pt x="0" y="0"/>
                  </a:moveTo>
                  <a:lnTo>
                    <a:pt x="808838" y="0"/>
                  </a:lnTo>
                  <a:lnTo>
                    <a:pt x="808838" y="947395"/>
                  </a:lnTo>
                  <a:lnTo>
                    <a:pt x="0" y="947395"/>
                  </a:lnTo>
                  <a:lnTo>
                    <a:pt x="0" y="0"/>
                  </a:lnTo>
                  <a:close/>
                </a:path>
              </a:pathLst>
            </a:custGeom>
            <a:blipFill>
              <a:blip r:embed="rId2"/>
              <a:stretch>
                <a:fillRect l="0" t="0" r="0" b="0"/>
              </a:stretch>
            </a:blipFill>
          </p:spPr>
        </p:sp>
        <p:sp>
          <p:nvSpPr>
            <p:cNvPr name="TextBox 7" id="7"/>
            <p:cNvSpPr txBox="true"/>
            <p:nvPr/>
          </p:nvSpPr>
          <p:spPr>
            <a:xfrm rot="0">
              <a:off x="0" y="1263035"/>
              <a:ext cx="2272228" cy="418685"/>
            </a:xfrm>
            <a:prstGeom prst="rect">
              <a:avLst/>
            </a:prstGeom>
          </p:spPr>
          <p:txBody>
            <a:bodyPr anchor="t" rtlCol="false" tIns="0" lIns="0" bIns="0" rIns="0">
              <a:spAutoFit/>
            </a:bodyPr>
            <a:lstStyle/>
            <a:p>
              <a:pPr algn="ctr" marL="0" indent="0" lvl="0">
                <a:lnSpc>
                  <a:spcPts val="2294"/>
                </a:lnSpc>
              </a:pPr>
              <a:r>
                <a:rPr lang="en-US" b="true" sz="2144">
                  <a:solidFill>
                    <a:srgbClr val="FFFFFF"/>
                  </a:solidFill>
                  <a:latin typeface="Poppins Bold"/>
                  <a:ea typeface="Poppins Bold"/>
                  <a:cs typeface="Poppins Bold"/>
                  <a:sym typeface="Poppins Bold"/>
                </a:rPr>
                <a:t>Analytics</a:t>
              </a:r>
            </a:p>
          </p:txBody>
        </p:sp>
        <p:sp>
          <p:nvSpPr>
            <p:cNvPr name="TextBox 8" id="8"/>
            <p:cNvSpPr txBox="true"/>
            <p:nvPr/>
          </p:nvSpPr>
          <p:spPr>
            <a:xfrm rot="0">
              <a:off x="13024" y="1691245"/>
              <a:ext cx="2272228" cy="418685"/>
            </a:xfrm>
            <a:prstGeom prst="rect">
              <a:avLst/>
            </a:prstGeom>
          </p:spPr>
          <p:txBody>
            <a:bodyPr anchor="t" rtlCol="false" tIns="0" lIns="0" bIns="0" rIns="0">
              <a:spAutoFit/>
            </a:bodyPr>
            <a:lstStyle/>
            <a:p>
              <a:pPr algn="ctr" marL="0" indent="0" lvl="0">
                <a:lnSpc>
                  <a:spcPts val="2294"/>
                </a:lnSpc>
              </a:pPr>
              <a:r>
                <a:rPr lang="en-US" sz="2144">
                  <a:solidFill>
                    <a:srgbClr val="FFFFFF"/>
                  </a:solidFill>
                  <a:latin typeface="Poppins"/>
                  <a:ea typeface="Poppins"/>
                  <a:cs typeface="Poppins"/>
                  <a:sym typeface="Poppins"/>
                </a:rPr>
                <a:t>Team</a:t>
              </a:r>
            </a:p>
          </p:txBody>
        </p:sp>
        <p:sp>
          <p:nvSpPr>
            <p:cNvPr name="TextBox 9" id="9"/>
            <p:cNvSpPr txBox="true"/>
            <p:nvPr/>
          </p:nvSpPr>
          <p:spPr>
            <a:xfrm rot="0">
              <a:off x="13024" y="9631322"/>
              <a:ext cx="2272228" cy="418685"/>
            </a:xfrm>
            <a:prstGeom prst="rect">
              <a:avLst/>
            </a:prstGeom>
          </p:spPr>
          <p:txBody>
            <a:bodyPr anchor="t" rtlCol="false" tIns="0" lIns="0" bIns="0" rIns="0">
              <a:spAutoFit/>
            </a:bodyPr>
            <a:lstStyle/>
            <a:p>
              <a:pPr algn="ctr" marL="0" indent="0" lvl="0">
                <a:lnSpc>
                  <a:spcPts val="2294"/>
                </a:lnSpc>
              </a:pPr>
              <a:r>
                <a:rPr lang="en-US" b="true" sz="2144">
                  <a:solidFill>
                    <a:srgbClr val="FFFFFF"/>
                  </a:solidFill>
                  <a:latin typeface="Poppins Bold"/>
                  <a:ea typeface="Poppins Bold"/>
                  <a:cs typeface="Poppins Bold"/>
                  <a:sym typeface="Poppins Bold"/>
                </a:rPr>
                <a:t>2026</a:t>
              </a:r>
            </a:p>
          </p:txBody>
        </p:sp>
        <p:sp>
          <p:nvSpPr>
            <p:cNvPr name="TextBox 10" id="10"/>
            <p:cNvSpPr txBox="true"/>
            <p:nvPr/>
          </p:nvSpPr>
          <p:spPr>
            <a:xfrm rot="0">
              <a:off x="26049" y="10059532"/>
              <a:ext cx="2272228" cy="418685"/>
            </a:xfrm>
            <a:prstGeom prst="rect">
              <a:avLst/>
            </a:prstGeom>
          </p:spPr>
          <p:txBody>
            <a:bodyPr anchor="t" rtlCol="false" tIns="0" lIns="0" bIns="0" rIns="0">
              <a:spAutoFit/>
            </a:bodyPr>
            <a:lstStyle/>
            <a:p>
              <a:pPr algn="ctr" marL="0" indent="0" lvl="0">
                <a:lnSpc>
                  <a:spcPts val="2294"/>
                </a:lnSpc>
              </a:pPr>
              <a:r>
                <a:rPr lang="en-US" sz="2144">
                  <a:solidFill>
                    <a:srgbClr val="FFFFFF"/>
                  </a:solidFill>
                  <a:latin typeface="Poppins"/>
                  <a:ea typeface="Poppins"/>
                  <a:cs typeface="Poppins"/>
                  <a:sym typeface="Poppins"/>
                </a:rPr>
                <a:t>Report</a:t>
              </a:r>
            </a:p>
          </p:txBody>
        </p:sp>
      </p:grpSp>
      <p:grpSp>
        <p:nvGrpSpPr>
          <p:cNvPr name="Group 11" id="11"/>
          <p:cNvGrpSpPr/>
          <p:nvPr/>
        </p:nvGrpSpPr>
        <p:grpSpPr>
          <a:xfrm rot="0">
            <a:off x="8986465" y="0"/>
            <a:ext cx="4378150" cy="10287000"/>
            <a:chOff x="0" y="0"/>
            <a:chExt cx="678290" cy="1593725"/>
          </a:xfrm>
        </p:grpSpPr>
        <p:sp>
          <p:nvSpPr>
            <p:cNvPr name="Freeform 12" id="12"/>
            <p:cNvSpPr/>
            <p:nvPr/>
          </p:nvSpPr>
          <p:spPr>
            <a:xfrm flipH="false" flipV="false" rot="0">
              <a:off x="0" y="0"/>
              <a:ext cx="678290" cy="1593725"/>
            </a:xfrm>
            <a:custGeom>
              <a:avLst/>
              <a:gdLst/>
              <a:ahLst/>
              <a:cxnLst/>
              <a:rect r="r" b="b" t="t" l="l"/>
              <a:pathLst>
                <a:path h="1593725" w="678290">
                  <a:moveTo>
                    <a:pt x="0" y="0"/>
                  </a:moveTo>
                  <a:lnTo>
                    <a:pt x="678290" y="0"/>
                  </a:lnTo>
                  <a:lnTo>
                    <a:pt x="678290" y="1593725"/>
                  </a:lnTo>
                  <a:lnTo>
                    <a:pt x="0" y="1593725"/>
                  </a:lnTo>
                  <a:close/>
                </a:path>
              </a:pathLst>
            </a:custGeom>
            <a:blipFill>
              <a:blip r:embed="rId3"/>
              <a:stretch>
                <a:fillRect l="-16964" t="0" r="-16964" b="0"/>
              </a:stretch>
            </a:blipFill>
          </p:spPr>
        </p:sp>
      </p:grpSp>
      <p:sp>
        <p:nvSpPr>
          <p:cNvPr name="AutoShape 13" id="13"/>
          <p:cNvSpPr/>
          <p:nvPr/>
        </p:nvSpPr>
        <p:spPr>
          <a:xfrm>
            <a:off x="13503000" y="0"/>
            <a:ext cx="0" cy="10287000"/>
          </a:xfrm>
          <a:prstGeom prst="line">
            <a:avLst/>
          </a:prstGeom>
          <a:ln cap="rnd" w="19050">
            <a:solidFill>
              <a:srgbClr val="3A58E4"/>
            </a:solidFill>
            <a:prstDash val="solid"/>
            <a:headEnd type="none" len="sm" w="sm"/>
            <a:tailEnd type="none" len="sm" w="sm"/>
          </a:ln>
        </p:spPr>
      </p:sp>
      <p:sp>
        <p:nvSpPr>
          <p:cNvPr name="TextBox 14" id="14"/>
          <p:cNvSpPr txBox="true"/>
          <p:nvPr/>
        </p:nvSpPr>
        <p:spPr>
          <a:xfrm rot="0">
            <a:off x="14650619" y="4228868"/>
            <a:ext cx="2628148" cy="2730677"/>
          </a:xfrm>
          <a:prstGeom prst="rect">
            <a:avLst/>
          </a:prstGeom>
        </p:spPr>
        <p:txBody>
          <a:bodyPr anchor="t" rtlCol="false" tIns="0" lIns="0" bIns="0" rIns="0">
            <a:spAutoFit/>
          </a:bodyPr>
          <a:lstStyle/>
          <a:p>
            <a:pPr algn="just" marL="0" indent="0" lvl="0">
              <a:lnSpc>
                <a:spcPts val="2393"/>
              </a:lnSpc>
            </a:pPr>
            <a:r>
              <a:rPr lang="en-US" sz="1709" spc="-5">
                <a:solidFill>
                  <a:srgbClr val="FFFFFF"/>
                </a:solidFill>
                <a:latin typeface="Poppins"/>
                <a:ea typeface="Poppins"/>
                <a:cs typeface="Poppins"/>
                <a:sym typeface="Poppins"/>
              </a:rPr>
              <a:t>Thank you for reviewing our Customer Shopping Behaviour Analytics Report. For questions about the data, methodology, or follow-up analysis requests, please contact our analytics team.</a:t>
            </a:r>
          </a:p>
        </p:txBody>
      </p:sp>
      <p:sp>
        <p:nvSpPr>
          <p:cNvPr name="TextBox 15" id="15"/>
          <p:cNvSpPr txBox="true"/>
          <p:nvPr/>
        </p:nvSpPr>
        <p:spPr>
          <a:xfrm rot="0">
            <a:off x="1028700" y="857250"/>
            <a:ext cx="6671890" cy="1460398"/>
          </a:xfrm>
          <a:prstGeom prst="rect">
            <a:avLst/>
          </a:prstGeom>
        </p:spPr>
        <p:txBody>
          <a:bodyPr anchor="t" rtlCol="false" tIns="0" lIns="0" bIns="0" rIns="0">
            <a:spAutoFit/>
          </a:bodyPr>
          <a:lstStyle/>
          <a:p>
            <a:pPr algn="l" marL="0" indent="0" lvl="0">
              <a:lnSpc>
                <a:spcPts val="11905"/>
              </a:lnSpc>
              <a:spcBef>
                <a:spcPct val="0"/>
              </a:spcBef>
            </a:pPr>
            <a:r>
              <a:rPr lang="en-US" b="true" sz="8504" spc="-544">
                <a:gradFill>
                  <a:gsLst>
                    <a:gs pos="0">
                      <a:srgbClr val="293E9C">
                        <a:alpha val="100000"/>
                      </a:srgbClr>
                    </a:gs>
                    <a:gs pos="100000">
                      <a:srgbClr val="3A58E4">
                        <a:alpha val="100000"/>
                      </a:srgbClr>
                    </a:gs>
                  </a:gsLst>
                  <a:path path="circle">
                    <a:fillToRect l="0" r="100000" t="0" b="100000"/>
                  </a:path>
                  <a:tileRect r="0" l="-100000" b="0" t="-100000"/>
                </a:gradFill>
                <a:latin typeface="Canva Sans Bold"/>
                <a:ea typeface="Canva Sans Bold"/>
                <a:cs typeface="Canva Sans Bold"/>
                <a:sym typeface="Canva Sans Bold"/>
              </a:rPr>
              <a:t>Thank You!</a:t>
            </a:r>
          </a:p>
        </p:txBody>
      </p:sp>
      <p:sp>
        <p:nvSpPr>
          <p:cNvPr name="TextBox 16" id="16"/>
          <p:cNvSpPr txBox="true"/>
          <p:nvPr/>
        </p:nvSpPr>
        <p:spPr>
          <a:xfrm rot="0">
            <a:off x="1028700" y="2316167"/>
            <a:ext cx="6671890" cy="3237977"/>
          </a:xfrm>
          <a:prstGeom prst="rect">
            <a:avLst/>
          </a:prstGeom>
        </p:spPr>
        <p:txBody>
          <a:bodyPr anchor="t" rtlCol="false" tIns="0" lIns="0" bIns="0" rIns="0">
            <a:spAutoFit/>
          </a:bodyPr>
          <a:lstStyle/>
          <a:p>
            <a:pPr algn="just" marL="0" indent="0" lvl="0">
              <a:lnSpc>
                <a:spcPts val="8333"/>
              </a:lnSpc>
            </a:pPr>
            <a:r>
              <a:rPr lang="en-US" sz="8504" spc="-544">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Questions?</a:t>
            </a:r>
          </a:p>
          <a:p>
            <a:pPr algn="just" marL="0" indent="0" lvl="0">
              <a:lnSpc>
                <a:spcPts val="8333"/>
              </a:lnSpc>
            </a:pPr>
            <a:r>
              <a:rPr lang="en-US" sz="8504" spc="-544">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Let's connect</a:t>
            </a:r>
          </a:p>
          <a:p>
            <a:pPr algn="just" marL="0" indent="0" lvl="0">
              <a:lnSpc>
                <a:spcPts val="8333"/>
              </a:lnSpc>
            </a:pPr>
            <a:r>
              <a:rPr lang="en-US" sz="8504" spc="-544">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and discuss.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DAHFmOzjFOw</dc:identifier>
  <dcterms:modified xsi:type="dcterms:W3CDTF">2011-08-01T06:04:30Z</dcterms:modified>
  <cp:revision>1</cp:revision>
  <dc:title>customer_behaviour_analysis</dc:title>
</cp:coreProperties>
</file>